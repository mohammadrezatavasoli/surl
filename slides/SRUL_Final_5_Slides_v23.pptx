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2550">
                <a:latin typeface="Aptos Display"/>
              </a:rPr>
              <a:t>Learning Spatial Unit-Norm Latents with Riemannian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800">
                <a:latin typeface="Aptos"/>
              </a:rPr>
              <a:t>SRUL: Spherical Riemannian Unit-Norm Latents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700">
                <a:latin typeface="Aptos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4407408" cy="6126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40416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222930"/>
                </a:solidFill>
                <a:latin typeface="Aptos"/>
              </a:rPr>
              <a:t>An autoencoder does not have to produce Gaussian latents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95728"/>
            <a:ext cx="440740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4041648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500">
                <a:latin typeface="Aptos"/>
              </a:rPr>
              <a:t>Normalization can make token norms nearly constant</a:t>
            </a:r>
          </a:p>
          <a:p>
            <a:r>
              <a:rPr sz="1500">
                <a:latin typeface="Aptos"/>
              </a:rPr>
              <a:t>(e.g., Transformer + LayerNorm)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64408"/>
            <a:ext cx="4407408" cy="713232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E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4041648" cy="521207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00">
                <a:latin typeface="Aptos"/>
              </a:rPr>
              <a:t>The prior can mismatch the latent support</a:t>
            </a:r>
          </a:p>
          <a:p>
            <a:r>
              <a:rPr sz="1500">
                <a:latin typeface="Aptos"/>
              </a:rPr>
              <a:t>or leave it along the transport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15384"/>
            <a:ext cx="4526280" cy="914400"/>
          </a:xfrm>
          <a:prstGeom prst="roundRect">
            <a:avLst/>
          </a:prstGeom>
          <a:solidFill>
            <a:srgbClr val="EBF7F8"/>
          </a:solidFill>
          <a:ln w="1778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97680"/>
            <a:ext cx="40416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r>
              <a:rPr sz="1600" b="1">
                <a:latin typeface="Aptos"/>
              </a:rPr>
              <a:t>Main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40000"/>
            <a:ext cx="4041648" cy="2700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r>
              <a:rPr sz="1400">
                <a:latin typeface="Aptos"/>
              </a:rPr>
              <a:t>SRUL learns unit-norm spatial tokens and an RFM prior</a:t>
            </a:r>
          </a:p>
          <a:p>
            <a:r>
              <a:rPr sz="1400">
                <a:latin typeface="Aptos"/>
              </a:rPr>
              <a:t>on the same latent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367528"/>
            <a:ext cx="408736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449824"/>
            <a:ext cx="38039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8375B"/>
                </a:solidFill>
                <a:latin typeface="Aptos"/>
              </a:rPr>
              <a:t>CIFAR-10  •  PathMNIST  •  CelebA-64</a:t>
            </a:r>
          </a:p>
        </p:txBody>
      </p:sp>
      <p:pic>
        <p:nvPicPr>
          <p:cNvPr id="19" name="Picture 18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33856"/>
            <a:ext cx="619963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Learn the spherical representation, learn its distribution, then sample on the same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2/5</a:t>
            </a:r>
          </a:p>
        </p:txBody>
      </p:sp>
      <p:pic>
        <p:nvPicPr>
          <p:cNvPr id="7" name="Picture 6" descr="srul_pipeline_v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33856"/>
            <a:ext cx="11365992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0120" y="6053328"/>
            <a:ext cx="102870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099048"/>
            <a:ext cx="100126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4E5B67"/>
                </a:solidFill>
                <a:latin typeface="Aptos"/>
              </a:rPr>
              <a:t>Core geometry: token normalization + tangent perturbation + SLERP + tangent projection + exponential-map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l"/>
            <a:r>
              <a:rPr sz="2700" b="1">
                <a:solidFill>
                  <a:srgbClr val="18375B"/>
                </a:solidFill>
                <a:latin typeface="Aptos"/>
              </a:rPr>
              <a:t>Why the autoencoder and prior must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/>
            <a:r>
              <a:rPr sz="1550">
                <a:solidFill>
                  <a:srgbClr val="4E5B67"/>
                </a:solidFill>
                <a:latin typeface="Aptos"/>
              </a:rPr>
              <a:t>Two controlled tests separate path mismatch from support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3/5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983480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1024128"/>
            <a:ext cx="5897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375B"/>
                </a:solidFill>
                <a:latin typeface="Aptos"/>
              </a:rPr>
              <a:t>1. Path match: same spherical autoencoder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23560" y="1371600"/>
          <a:ext cx="52120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868680"/>
                <a:gridCol w="731520"/>
                <a:gridCol w="777240"/>
                <a:gridCol w="914400"/>
              </a:tblGrid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KID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Min norm</a:t>
                      </a:r>
                    </a:p>
                  </a:txBody>
                  <a:tcPr marL="54864" marR="36576">
                    <a:solidFill>
                      <a:srgbClr val="18375B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Chord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67.44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0.0740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0.840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0.085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4E5B67"/>
                          </a:solidFill>
                          <a:latin typeface="Aptos"/>
                        </a:rPr>
                        <a:t>0.705</a:t>
                      </a:r>
                    </a:p>
                  </a:txBody>
                  <a:tcPr marL="54864" marR="36576"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anchor="ctr"/>
                    <a:lstStyle/>
                    <a:p>
                      <a:pPr algn="l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SRUL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63.84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0.0667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4E5B67"/>
                          </a:solidFill>
                          <a:latin typeface="Aptos"/>
                        </a:rPr>
                        <a:t>1.000</a:t>
                      </a:r>
                    </a:p>
                  </a:txBody>
                  <a:tcPr marL="54864" marR="36576">
                    <a:solidFill>
                      <a:srgbClr val="E5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23560" y="2761488"/>
            <a:ext cx="5897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18375B"/>
                </a:solidFill>
                <a:latin typeface="Aptos Display"/>
              </a:rPr>
              <a:t>2. Support match: SRUL vs. the same VAE with two priors (CFG =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485000"/>
            <a:ext cx="56692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180">
                <a:solidFill>
                  <a:srgbClr val="262626"/>
                </a:solidFill>
                <a:latin typeface="Aptos"/>
              </a:rPr>
              <a:t>Same VAE: radius CV = 0.291; mean-radius replacement changes reconstruction FID 16.90 → 22.46.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02352"/>
            <a:ext cx="10881360" cy="713232"/>
          </a:xfrm>
          <a:prstGeom prst="roundRect">
            <a:avLst/>
          </a:prstGeom>
          <a:solidFill>
            <a:srgbClr val="E5F2F6"/>
          </a:solidFill>
          <a:ln w="15240">
            <a:solidFill>
              <a:srgbClr val="0B8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75504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330">
                <a:solidFill>
                  <a:srgbClr val="142837"/>
                </a:solidFill>
                <a:latin typeface="Aptos"/>
              </a:rPr>
              <a:t>SRUL learns spherical support before RFM. Projecting a VAE after training removes radius information.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23560" y="3070000"/>
          <a:ext cx="4919472" cy="132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58952"/>
                <a:gridCol w="822960"/>
                <a:gridCol w="822960"/>
              </a:tblGrid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FID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Prec.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ctr" marL="45720" marR="45720" marT="18288" marB="18288">
                    <a:solidFill>
                      <a:srgbClr val="18375B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42837"/>
                          </a:solidFill>
                          <a:latin typeface="Aptos"/>
                        </a:rPr>
                        <a:t>SRUL: spherical AE + RFM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49.42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0.857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42837"/>
                          </a:solidFill>
                          <a:latin typeface="Aptos"/>
                        </a:rPr>
                        <a:t>0.110</a:t>
                      </a:r>
                    </a:p>
                  </a:txBody>
                  <a:tcPr anchor="ctr" marL="45720" marR="45720" marT="18288" marB="18288">
                    <a:solidFill>
                      <a:srgbClr val="E5F2F6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standard FM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50.70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3125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42837"/>
                          </a:solidFill>
                          <a:latin typeface="Aptos"/>
                        </a:rPr>
                        <a:t>VAE + projected RFM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56.04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0.848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142837"/>
                          </a:solidFill>
                          <a:latin typeface="Aptos"/>
                        </a:rPr>
                        <a:t>0.063</a:t>
                      </a:r>
                    </a:p>
                  </a:txBody>
                  <a:tcPr anchor="ctr" marL="45720" marR="45720" marT="18288" marB="18288">
                    <a:solidFill>
                      <a:srgbClr val="FF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Two controls after the geometry is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Tangent noise changes the latent representation; classifier-free guidance changes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4/5</a:t>
            </a:r>
          </a:p>
        </p:txBody>
      </p:sp>
      <p:pic>
        <p:nvPicPr>
          <p:cNvPr id="7" name="Picture 6" descr="ablations_v9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43584"/>
            <a:ext cx="1106424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5440680"/>
            <a:ext cx="52578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532120"/>
            <a:ext cx="48920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18375B"/>
                </a:solidFill>
                <a:latin typeface="Aptos"/>
              </a:rPr>
              <a:t>Tangent-noise sweep: σenc = 0.05 gives the best tested reconstruction and generation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13892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4773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0C6475"/>
                </a:solidFill>
                <a:latin typeface="Aptos"/>
              </a:rPr>
              <a:t>CFG sweep: stronger guidance improves FID and precision, while recall decreases.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2700" b="1">
                <a:solidFill>
                  <a:srgbClr val="18375B"/>
                </a:solidFill>
                <a:latin typeface="Aptos"/>
              </a:rPr>
              <a:t>SRUL in three image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The same method is tested on different image structure and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fa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07592"/>
            <a:ext cx="297180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8375B"/>
                </a:solidFill>
                <a:latin typeface="Aptos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07592"/>
            <a:ext cx="2971800" cy="969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C6475"/>
                </a:solidFill>
                <a:latin typeface="Aptos"/>
              </a:rPr>
              <a:t>PathMNIST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eleb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307592"/>
            <a:ext cx="297180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E07737"/>
                </a:solidFill>
                <a:latin typeface="Aptos"/>
              </a:rPr>
              <a:t>CelebA-64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12344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2907792"/>
            <a:ext cx="242316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Evaluation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907792"/>
            <a:ext cx="7772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Recon. FID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Gen. FID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3814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56432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CIFAR-10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2808" y="3438144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456432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Geometry + sampling ablations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438144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56432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17.53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48.71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7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0.090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968496"/>
            <a:ext cx="12344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986783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PathMNIST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92808" y="3968496"/>
            <a:ext cx="242316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986783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Histopathology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3968496"/>
            <a:ext cx="7772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986783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7.13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29.36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0.309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4988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517136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CelebA-64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2808" y="4498848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0240" y="4517136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64 × 64 face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498848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4517136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8 ×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9320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9.08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41.22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877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0.657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0.198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" y="5330952"/>
            <a:ext cx="1062532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" y="5431536"/>
            <a:ext cx="101864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/>
            <a:r>
              <a:rPr sz="1600">
                <a:latin typeface="Aptos"/>
              </a:rPr>
              <a:t>CIFAR-10 tests geometry and controls; PathMNIST tests texture transfer; CelebA-64 tests 64 × 64 faces.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Spatial Unit-Norm Latents with Riemannian Flow Matching</dc:title>
  <dc:subject>SRUL - Spherical Riemannian Unit-Norm Latents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