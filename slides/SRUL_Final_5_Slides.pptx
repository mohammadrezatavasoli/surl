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SRUL: Spatial Spherical Latents with Riemannian Flow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Some autoencoders produce near-spherical rather than Gaussian latents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88720"/>
            <a:ext cx="4526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8375B"/>
                </a:solidFill>
                <a:latin typeface="Aptos"/>
              </a:rPr>
              <a:t>Motivation: latent geometry is learned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4407408" cy="6126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40416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>
                <a:solidFill>
                  <a:srgbClr val="222930"/>
                </a:solidFill>
                <a:latin typeface="Aptos"/>
              </a:rPr>
              <a:t>Autoencoder latents are not guaranteed to be Gaussian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95728"/>
            <a:ext cx="4407408" cy="713232"/>
          </a:xfrm>
          <a:prstGeom prst="roundRect">
            <a:avLst/>
          </a:prstGeom>
          <a:solidFill>
            <a:srgbClr val="EBF7F8"/>
          </a:solidFill>
          <a:ln w="1270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87168"/>
            <a:ext cx="4041648" cy="5212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1370" b="1">
                <a:solidFill>
                  <a:srgbClr val="0C6475"/>
                </a:solidFill>
                <a:latin typeface="Aptos"/>
              </a:rPr>
              <a:t>Normalization can create near-spherical tokens
Transformer + LayerNorm is one example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64408"/>
            <a:ext cx="4407408" cy="713232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E07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355848"/>
            <a:ext cx="4041648" cy="5212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1370" b="1">
                <a:solidFill>
                  <a:srgbClr val="E07737"/>
                </a:solidFill>
                <a:latin typeface="Aptos"/>
              </a:rPr>
              <a:t>A Euclidean prior ignores this geometry
Its chord enters states absent from the encoder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15384"/>
            <a:ext cx="4526280" cy="914400"/>
          </a:xfrm>
          <a:prstGeom prst="roundRect">
            <a:avLst/>
          </a:prstGeom>
          <a:solidFill>
            <a:srgbClr val="EBF7F8"/>
          </a:solidFill>
          <a:ln w="1778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97680"/>
            <a:ext cx="40416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0" b="1">
                <a:solidFill>
                  <a:srgbClr val="0C6475"/>
                </a:solidFill>
                <a:latin typeface="Aptos"/>
              </a:rPr>
              <a:t>Research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553712"/>
            <a:ext cx="4041648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1460" b="1">
                <a:solidFill>
                  <a:srgbClr val="222930"/>
                </a:solidFill>
                <a:latin typeface="Aptos"/>
              </a:rPr>
              <a:t>Does geometry-matched transport
improve generation?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5367528"/>
            <a:ext cx="4087368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5449824"/>
            <a:ext cx="380390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>
                <a:solidFill>
                  <a:srgbClr val="18375B"/>
                </a:solidFill>
                <a:latin typeface="Aptos"/>
              </a:rPr>
              <a:t>CIFAR-10  •  PathMNIST  •  CelebA-64</a:t>
            </a:r>
          </a:p>
        </p:txBody>
      </p:sp>
      <p:pic>
        <p:nvPicPr>
          <p:cNvPr id="19" name="Picture 18" descr="geometry_schematic_v9_no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33856"/>
            <a:ext cx="6199632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SRUL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Learn the spherical representation, learn its distribution, then sample on the same manifold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2/5</a:t>
            </a:r>
          </a:p>
        </p:txBody>
      </p:sp>
      <p:pic>
        <p:nvPicPr>
          <p:cNvPr id="7" name="Picture 6" descr="srul_pipeline_v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33856"/>
            <a:ext cx="11365992" cy="4892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0120" y="6053328"/>
            <a:ext cx="1028700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6099048"/>
            <a:ext cx="100126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>
                <a:solidFill>
                  <a:srgbClr val="4E5B67"/>
                </a:solidFill>
                <a:latin typeface="Aptos"/>
              </a:rPr>
              <a:t>Core geometry: token normalization + tangent perturbation + SLERP + tangent projection + exponential-map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Controlled test: same spherical autoencoder, different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Only the transport path changes: Euclidean chord versus SRUL geodesic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3/5</a:t>
            </a:r>
          </a:p>
        </p:txBody>
      </p:sp>
      <p:pic>
        <p:nvPicPr>
          <p:cNvPr id="7" name="Picture 6" descr="geometry_schematic_v9_no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33856"/>
            <a:ext cx="5989320" cy="43708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20840" y="1298448"/>
            <a:ext cx="1234440" cy="603504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1316736"/>
            <a:ext cx="1179576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70" b="1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298448"/>
            <a:ext cx="658368" cy="603504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82711" y="1316736"/>
            <a:ext cx="603503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FFFFFF"/>
                </a:solidFill>
                <a:latin typeface="Aptos"/>
              </a:rPr>
              <a:t>FID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1298448"/>
            <a:ext cx="749808" cy="603504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1316736"/>
            <a:ext cx="694944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FFFFFF"/>
                </a:solidFill>
                <a:latin typeface="Aptos"/>
              </a:rPr>
              <a:t>KID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63456" y="1298448"/>
            <a:ext cx="694944" cy="603504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0888" y="1316736"/>
            <a:ext cx="64008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FFFFFF"/>
                </a:solidFill>
                <a:latin typeface="Aptos"/>
              </a:rPr>
              <a:t>Prec.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1298448"/>
            <a:ext cx="694944" cy="603504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5832" y="1316736"/>
            <a:ext cx="64008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53344" y="1298448"/>
            <a:ext cx="804672" cy="603504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0776" y="1316736"/>
            <a:ext cx="749808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FFFFFF"/>
                </a:solidFill>
                <a:latin typeface="Aptos"/>
              </a:rPr>
              <a:t>Min norm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1901952"/>
            <a:ext cx="123444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1920240"/>
            <a:ext cx="1179576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70" b="0">
                <a:solidFill>
                  <a:srgbClr val="222930"/>
                </a:solidFill>
                <a:latin typeface="Aptos"/>
              </a:rPr>
              <a:t>Chord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901952"/>
            <a:ext cx="658368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1" y="1920240"/>
            <a:ext cx="603503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0">
                <a:solidFill>
                  <a:srgbClr val="222930"/>
                </a:solidFill>
                <a:latin typeface="Aptos"/>
              </a:rPr>
              <a:t>67.44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13648" y="1901952"/>
            <a:ext cx="749808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1920240"/>
            <a:ext cx="694944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0">
                <a:solidFill>
                  <a:srgbClr val="222930"/>
                </a:solidFill>
                <a:latin typeface="Aptos"/>
              </a:rPr>
              <a:t>0.0740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3456" y="1901952"/>
            <a:ext cx="69494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90888" y="1920240"/>
            <a:ext cx="64008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0">
                <a:solidFill>
                  <a:srgbClr val="222930"/>
                </a:solidFill>
                <a:latin typeface="Aptos"/>
              </a:rPr>
              <a:t>0.840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1901952"/>
            <a:ext cx="69494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85832" y="1920240"/>
            <a:ext cx="64008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0">
                <a:solidFill>
                  <a:srgbClr val="222930"/>
                </a:solidFill>
                <a:latin typeface="Aptos"/>
              </a:rPr>
              <a:t>0.085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53344" y="1901952"/>
            <a:ext cx="804672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0776" y="1920240"/>
            <a:ext cx="749808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0">
                <a:solidFill>
                  <a:srgbClr val="222930"/>
                </a:solidFill>
                <a:latin typeface="Aptos"/>
              </a:rPr>
              <a:t>0.705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2505456"/>
            <a:ext cx="1234440" cy="603504"/>
          </a:xfrm>
          <a:prstGeom prst="rect">
            <a:avLst/>
          </a:prstGeom>
          <a:solidFill>
            <a:srgbClr val="EBF7F8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8272" y="2523744"/>
            <a:ext cx="1179576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70" b="1">
                <a:solidFill>
                  <a:srgbClr val="222930"/>
                </a:solidFill>
                <a:latin typeface="Aptos"/>
              </a:rPr>
              <a:t>SRUL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2505456"/>
            <a:ext cx="658368" cy="603504"/>
          </a:xfrm>
          <a:prstGeom prst="rect">
            <a:avLst/>
          </a:prstGeom>
          <a:solidFill>
            <a:srgbClr val="EBF7F8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82711" y="2523744"/>
            <a:ext cx="603503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222930"/>
                </a:solidFill>
                <a:latin typeface="Aptos"/>
              </a:rPr>
              <a:t>63.84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13648" y="2505456"/>
            <a:ext cx="749808" cy="603504"/>
          </a:xfrm>
          <a:prstGeom prst="rect">
            <a:avLst/>
          </a:prstGeom>
          <a:solidFill>
            <a:srgbClr val="EBF7F8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2523744"/>
            <a:ext cx="694944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222930"/>
                </a:solidFill>
                <a:latin typeface="Aptos"/>
              </a:rPr>
              <a:t>0.0667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63456" y="2505456"/>
            <a:ext cx="694944" cy="603504"/>
          </a:xfrm>
          <a:prstGeom prst="rect">
            <a:avLst/>
          </a:prstGeom>
          <a:solidFill>
            <a:srgbClr val="EBF7F8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90888" y="2523744"/>
            <a:ext cx="64008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222930"/>
                </a:solidFill>
                <a:latin typeface="Aptos"/>
              </a:rPr>
              <a:t>0.857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2505456"/>
            <a:ext cx="694944" cy="603504"/>
          </a:xfrm>
          <a:prstGeom prst="rect">
            <a:avLst/>
          </a:prstGeom>
          <a:solidFill>
            <a:srgbClr val="EBF7F8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85832" y="2523744"/>
            <a:ext cx="64008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222930"/>
                </a:solidFill>
                <a:latin typeface="Aptos"/>
              </a:rPr>
              <a:t>0.091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753344" y="2505456"/>
            <a:ext cx="804672" cy="603504"/>
          </a:xfrm>
          <a:prstGeom prst="rect">
            <a:avLst/>
          </a:prstGeom>
          <a:solidFill>
            <a:srgbClr val="EBF7F8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80776" y="2523744"/>
            <a:ext cx="749808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222930"/>
                </a:solidFill>
                <a:latin typeface="Aptos"/>
              </a:rPr>
              <a:t>1.000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20840" y="3291840"/>
            <a:ext cx="4937760" cy="1243584"/>
          </a:xfrm>
          <a:prstGeom prst="roundRect">
            <a:avLst/>
          </a:prstGeom>
          <a:solidFill>
            <a:srgbClr val="F2F6F9"/>
          </a:solidFill>
          <a:ln w="1143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456432"/>
            <a:ext cx="44988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30" b="1">
                <a:solidFill>
                  <a:srgbClr val="18375B"/>
                </a:solidFill>
                <a:latin typeface="Aptos"/>
              </a:rPr>
              <a:t>Why the chord enters the interior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3803904"/>
            <a:ext cx="4462272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60" b="0">
                <a:solidFill>
                  <a:srgbClr val="222930"/>
                </a:solidFill>
                <a:latin typeface="Aptos"/>
              </a:rPr>
              <a:t>For nearly orthogonal endpoints, the midpoint norm is 1/√2 ≈ 0.707. The measured value is 0.705.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5614416"/>
            <a:ext cx="10561320" cy="530352"/>
          </a:xfrm>
          <a:prstGeom prst="roundRect">
            <a:avLst/>
          </a:prstGeom>
          <a:solidFill>
            <a:srgbClr val="EBF7F8"/>
          </a:solidFill>
          <a:ln w="1270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5705856"/>
            <a:ext cx="101041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60" b="1">
                <a:solidFill>
                  <a:srgbClr val="0C6475"/>
                </a:solidFill>
                <a:latin typeface="Aptos"/>
              </a:rPr>
              <a:t>With a spherical encoder, geodesic transport improves all four image metrics and keeps the full path on-manifold.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Two independent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Tangent noise changes the encoded representation; classifier-free guidance changes conditional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4/5</a:t>
            </a:r>
          </a:p>
        </p:txBody>
      </p:sp>
      <p:pic>
        <p:nvPicPr>
          <p:cNvPr id="7" name="Picture 6" descr="ablations_v9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43584"/>
            <a:ext cx="11064240" cy="4069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5440680"/>
            <a:ext cx="525780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532120"/>
            <a:ext cx="48920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10" b="1">
                <a:solidFill>
                  <a:srgbClr val="18375B"/>
                </a:solidFill>
                <a:latin typeface="Aptos"/>
              </a:rPr>
              <a:t>Tangent-noise sweep: σenc = 0.05 gives the best tested reconstruction and generation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440680"/>
            <a:ext cx="5138928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532120"/>
            <a:ext cx="47731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10" b="1">
                <a:solidFill>
                  <a:srgbClr val="0C6475"/>
                </a:solidFill>
                <a:latin typeface="Aptos"/>
              </a:rPr>
              <a:t>CFG sweep: stronger guidance improves FID and precision, while recall decreases.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Results across three evaluation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Natural objects, histopathology textures, and structured 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5/5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ifa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07592"/>
            <a:ext cx="2971800" cy="9692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18375B"/>
                </a:solidFill>
                <a:latin typeface="Aptos"/>
              </a:rPr>
              <a:t>CIFAR-10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th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307592"/>
            <a:ext cx="2971800" cy="9692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53128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C6475"/>
                </a:solidFill>
                <a:latin typeface="Aptos"/>
              </a:rPr>
              <a:t>PathMNIST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eleba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1307592"/>
            <a:ext cx="2971800" cy="9692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19872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E07737"/>
                </a:solidFill>
                <a:latin typeface="Aptos"/>
              </a:rPr>
              <a:t>CelebA-64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907792"/>
            <a:ext cx="123444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92808" y="2907792"/>
            <a:ext cx="242316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2926080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Evaluation setting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2907792"/>
            <a:ext cx="77724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926080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Grid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93208" y="2907792"/>
            <a:ext cx="109728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926080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Recon. FID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2907792"/>
            <a:ext cx="109728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26080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Gen. FID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7768" y="2907792"/>
            <a:ext cx="91440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2926080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Prec.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02168" y="2907792"/>
            <a:ext cx="91440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926080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438144"/>
            <a:ext cx="12344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456432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CIFAR-10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92808" y="3438144"/>
            <a:ext cx="24231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3456432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Geometry + sampling ablations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8" y="3438144"/>
            <a:ext cx="777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3456432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 × 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93208" y="3438144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3456432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17.53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0488" y="3438144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3456432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48.71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87768" y="3438144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3456432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0.861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02168" y="3438144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3456432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0.090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3968496"/>
            <a:ext cx="123444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986783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PathMNIST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92808" y="3968496"/>
            <a:ext cx="242316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0240" y="3986783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Histopathology transfer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15968" y="3968496"/>
            <a:ext cx="77724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3986783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 × 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93208" y="3968496"/>
            <a:ext cx="109728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0" y="3986783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7.13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90488" y="3968496"/>
            <a:ext cx="109728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3986783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29.36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87768" y="3968496"/>
            <a:ext cx="91440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0" y="3986783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0.829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02168" y="3968496"/>
            <a:ext cx="91440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3986783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0.309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4498848"/>
            <a:ext cx="12344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517136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CelebA-64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92808" y="4498848"/>
            <a:ext cx="24231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20240" y="4517136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64 × 64 face generation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15968" y="4498848"/>
            <a:ext cx="777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43400" y="4517136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8 × 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93208" y="4498848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20640" y="4517136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9.08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90488" y="4498848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0" y="4517136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41.22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87768" y="4498848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0" y="4517136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0.657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02168" y="4498848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0" y="4517136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0.198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4672" y="5330952"/>
            <a:ext cx="10625328" cy="713232"/>
          </a:xfrm>
          <a:prstGeom prst="roundRect">
            <a:avLst/>
          </a:prstGeom>
          <a:solidFill>
            <a:srgbClr val="EBF7F8"/>
          </a:solidFill>
          <a:ln w="1270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4128" y="5431536"/>
            <a:ext cx="10186416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20" b="0">
                <a:solidFill>
                  <a:srgbClr val="0C6475"/>
                </a:solidFill>
                <a:latin typeface="Aptos"/>
              </a:rPr>
              <a:t>CIFAR-10 provides the controlled ablations; PathMNIST tests texture transfer; CelebA-64 tests resolution and token-grid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