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SRUL: Spatial Spherical Latents with Riemannian Flow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Near-spherical latents make Gaussian sources and straight Euclidean paths geometrically mismatched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1/5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188720"/>
            <a:ext cx="4526280" cy="34747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39" b="1">
                <a:solidFill>
                  <a:srgbClr val="18375B"/>
                </a:solidFill>
                <a:latin typeface="Aptos"/>
              </a:rPr>
              <a:t>Why Euclidean latent dynamics are mismatched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627632"/>
            <a:ext cx="4407408" cy="7132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709928"/>
            <a:ext cx="404164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380" b="1">
                <a:solidFill>
                  <a:srgbClr val="222930"/>
                </a:solidFill>
                <a:latin typeface="Aptos"/>
              </a:rPr>
              <a:t>Autoencoder latents need not be Gaussian
Their geometry depends on architecture and training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468880"/>
            <a:ext cx="4407408" cy="731520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551176"/>
            <a:ext cx="4041648" cy="56692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380" b="1">
                <a:solidFill>
                  <a:srgbClr val="0C6475"/>
                </a:solidFill>
                <a:latin typeface="Aptos"/>
              </a:rPr>
              <a:t>Normalization can produce a fixed-radius shell
Transformer + LayerNorm is one example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346704"/>
            <a:ext cx="4407408" cy="713232"/>
          </a:xfrm>
          <a:prstGeom prst="roundRect">
            <a:avLst/>
          </a:prstGeom>
          <a:solidFill>
            <a:srgbClr val="FFF4EB"/>
          </a:solidFill>
          <a:ln w="12700">
            <a:solidFill>
              <a:srgbClr val="E07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429000"/>
            <a:ext cx="4041648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380" b="1">
                <a:solidFill>
                  <a:srgbClr val="E07737"/>
                </a:solidFill>
                <a:latin typeface="Aptos"/>
              </a:rPr>
              <a:t>Gaussian noise adds unused radial variation
Linear paths cut through the shell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279392"/>
            <a:ext cx="4526280" cy="969264"/>
          </a:xfrm>
          <a:prstGeom prst="roundRect">
            <a:avLst/>
          </a:prstGeom>
          <a:solidFill>
            <a:srgbClr val="EBF7F8"/>
          </a:solidFill>
          <a:ln w="1778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379976"/>
            <a:ext cx="4041648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0C6475"/>
                </a:solidFill>
                <a:latin typeface="Aptos"/>
              </a:rPr>
              <a:t>Research question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645152"/>
            <a:ext cx="4041648" cy="42062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92000"/>
              </a:lnSpc>
            </a:pPr>
            <a:r>
              <a:rPr sz="1510" b="1">
                <a:solidFill>
                  <a:srgbClr val="222930"/>
                </a:solidFill>
                <a:latin typeface="Aptos"/>
              </a:rPr>
              <a:t>For spherical tokens, should transport
follow the chord or the geodesic?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" y="5468112"/>
            <a:ext cx="4087368" cy="43891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5550408"/>
            <a:ext cx="3803904" cy="25603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18375B"/>
                </a:solidFill>
                <a:latin typeface="Aptos"/>
              </a:rPr>
              <a:t>CIFAR-10  •  PathMNIST  •  CelebA-64</a:t>
            </a:r>
          </a:p>
        </p:txBody>
      </p:sp>
      <p:pic>
        <p:nvPicPr>
          <p:cNvPr id="19" name="Picture 18" descr="geometry_schematic_v9_no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133856"/>
            <a:ext cx="6199632" cy="5138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SRUL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Learn the spherical representation, learn its distribution, then sample on the same manifold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2/5</a:t>
            </a:r>
          </a:p>
        </p:txBody>
      </p:sp>
      <p:pic>
        <p:nvPicPr>
          <p:cNvPr id="7" name="Picture 6" descr="srul_pipeline_v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133856"/>
            <a:ext cx="11365992" cy="4892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960120" y="6053328"/>
            <a:ext cx="10287000" cy="347472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6099048"/>
            <a:ext cx="10012680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20" b="1">
                <a:solidFill>
                  <a:srgbClr val="4E5B67"/>
                </a:solidFill>
                <a:latin typeface="Aptos"/>
              </a:rPr>
              <a:t>Core geometry: token normalization + tangent perturbation + SLERP + tangent projection + exponential-map integration.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Controlled test: same spherical autoencoder, different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Only the transport path changes: Euclidean chord versus SRUL geodesic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3/5</a:t>
            </a:r>
          </a:p>
        </p:txBody>
      </p:sp>
      <p:pic>
        <p:nvPicPr>
          <p:cNvPr id="7" name="Picture 6" descr="geometry_schematic_v9_no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33856"/>
            <a:ext cx="5989320" cy="437083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720840" y="1298448"/>
            <a:ext cx="1234440" cy="603504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48272" y="1316736"/>
            <a:ext cx="1179576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70" b="1">
                <a:solidFill>
                  <a:srgbClr val="FFFFFF"/>
                </a:solidFill>
                <a:latin typeface="Aptos"/>
              </a:rPr>
              <a:t>Method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55279" y="1298448"/>
            <a:ext cx="658368" cy="603504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82711" y="1316736"/>
            <a:ext cx="603503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FFFFFF"/>
                </a:solidFill>
                <a:latin typeface="Aptos"/>
              </a:rPr>
              <a:t>FID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13648" y="1298448"/>
            <a:ext cx="749808" cy="603504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41080" y="1316736"/>
            <a:ext cx="694944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FFFFFF"/>
                </a:solidFill>
                <a:latin typeface="Aptos"/>
              </a:rPr>
              <a:t>KID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3456" y="1298448"/>
            <a:ext cx="694944" cy="603504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90888" y="1316736"/>
            <a:ext cx="64008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FFFFFF"/>
                </a:solidFill>
                <a:latin typeface="Aptos"/>
              </a:rPr>
              <a:t>Prec.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1298448"/>
            <a:ext cx="694944" cy="603504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85832" y="1316736"/>
            <a:ext cx="64008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753344" y="1298448"/>
            <a:ext cx="804672" cy="603504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0776" y="1316736"/>
            <a:ext cx="749808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FFFFFF"/>
                </a:solidFill>
                <a:latin typeface="Aptos"/>
              </a:rPr>
              <a:t>Min norm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20840" y="1901952"/>
            <a:ext cx="1234440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48272" y="1920240"/>
            <a:ext cx="1179576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70" b="0">
                <a:solidFill>
                  <a:srgbClr val="222930"/>
                </a:solidFill>
                <a:latin typeface="Aptos"/>
              </a:rPr>
              <a:t>Chord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1901952"/>
            <a:ext cx="658368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82711" y="1920240"/>
            <a:ext cx="603503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0">
                <a:solidFill>
                  <a:srgbClr val="222930"/>
                </a:solidFill>
                <a:latin typeface="Aptos"/>
              </a:rPr>
              <a:t>67.44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13648" y="1901952"/>
            <a:ext cx="749808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41080" y="1920240"/>
            <a:ext cx="694944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0">
                <a:solidFill>
                  <a:srgbClr val="222930"/>
                </a:solidFill>
                <a:latin typeface="Aptos"/>
              </a:rPr>
              <a:t>0.0740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3456" y="1901952"/>
            <a:ext cx="69494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90888" y="1920240"/>
            <a:ext cx="64008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0">
                <a:solidFill>
                  <a:srgbClr val="222930"/>
                </a:solidFill>
                <a:latin typeface="Aptos"/>
              </a:rPr>
              <a:t>0.840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058400" y="1901952"/>
            <a:ext cx="694944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85832" y="1920240"/>
            <a:ext cx="64008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0">
                <a:solidFill>
                  <a:srgbClr val="222930"/>
                </a:solidFill>
                <a:latin typeface="Aptos"/>
              </a:rPr>
              <a:t>0.085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753344" y="1901952"/>
            <a:ext cx="804672" cy="603504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0776" y="1920240"/>
            <a:ext cx="749808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0">
                <a:solidFill>
                  <a:srgbClr val="222930"/>
                </a:solidFill>
                <a:latin typeface="Aptos"/>
              </a:rPr>
              <a:t>0.705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20840" y="2505456"/>
            <a:ext cx="1234440" cy="603504"/>
          </a:xfrm>
          <a:prstGeom prst="rect">
            <a:avLst/>
          </a:prstGeom>
          <a:solidFill>
            <a:srgbClr val="EBF7F8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48272" y="2523744"/>
            <a:ext cx="1179576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70" b="1">
                <a:solidFill>
                  <a:srgbClr val="222930"/>
                </a:solidFill>
                <a:latin typeface="Aptos"/>
              </a:rPr>
              <a:t>SRUL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55279" y="2505456"/>
            <a:ext cx="658368" cy="603504"/>
          </a:xfrm>
          <a:prstGeom prst="rect">
            <a:avLst/>
          </a:prstGeom>
          <a:solidFill>
            <a:srgbClr val="EBF7F8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82711" y="2523744"/>
            <a:ext cx="603503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222930"/>
                </a:solidFill>
                <a:latin typeface="Aptos"/>
              </a:rPr>
              <a:t>63.84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613648" y="2505456"/>
            <a:ext cx="749808" cy="603504"/>
          </a:xfrm>
          <a:prstGeom prst="rect">
            <a:avLst/>
          </a:prstGeom>
          <a:solidFill>
            <a:srgbClr val="EBF7F8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641080" y="2523744"/>
            <a:ext cx="694944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222930"/>
                </a:solidFill>
                <a:latin typeface="Aptos"/>
              </a:rPr>
              <a:t>0.0667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363456" y="2505456"/>
            <a:ext cx="694944" cy="603504"/>
          </a:xfrm>
          <a:prstGeom prst="rect">
            <a:avLst/>
          </a:prstGeom>
          <a:solidFill>
            <a:srgbClr val="EBF7F8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90888" y="2523744"/>
            <a:ext cx="64008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222930"/>
                </a:solidFill>
                <a:latin typeface="Aptos"/>
              </a:rPr>
              <a:t>0.857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0" y="2505456"/>
            <a:ext cx="694944" cy="603504"/>
          </a:xfrm>
          <a:prstGeom prst="rect">
            <a:avLst/>
          </a:prstGeom>
          <a:solidFill>
            <a:srgbClr val="EBF7F8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85832" y="2523744"/>
            <a:ext cx="640080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222930"/>
                </a:solidFill>
                <a:latin typeface="Aptos"/>
              </a:rPr>
              <a:t>0.091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753344" y="2505456"/>
            <a:ext cx="804672" cy="603504"/>
          </a:xfrm>
          <a:prstGeom prst="rect">
            <a:avLst/>
          </a:prstGeom>
          <a:solidFill>
            <a:srgbClr val="EBF7F8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780776" y="2523744"/>
            <a:ext cx="749808" cy="566928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70" b="1">
                <a:solidFill>
                  <a:srgbClr val="222930"/>
                </a:solidFill>
                <a:latin typeface="Aptos"/>
              </a:rPr>
              <a:t>1.000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720840" y="3291840"/>
            <a:ext cx="4937760" cy="1243584"/>
          </a:xfrm>
          <a:prstGeom prst="roundRect">
            <a:avLst/>
          </a:prstGeom>
          <a:solidFill>
            <a:srgbClr val="F2F6F9"/>
          </a:solidFill>
          <a:ln w="1143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49440" y="3456432"/>
            <a:ext cx="4498848" cy="2743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30" b="1">
                <a:solidFill>
                  <a:srgbClr val="18375B"/>
                </a:solidFill>
                <a:latin typeface="Aptos"/>
              </a:rPr>
              <a:t>Why the chord enters the interior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49440" y="3803904"/>
            <a:ext cx="4462272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60" b="0">
                <a:solidFill>
                  <a:srgbClr val="222930"/>
                </a:solidFill>
                <a:latin typeface="Aptos"/>
              </a:rPr>
              <a:t>For nearly orthogonal endpoints, the midpoint norm is 1/√2 ≈ 0.707. The measured value is 0.705.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22960" y="5614416"/>
            <a:ext cx="10561320" cy="53035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" y="5705856"/>
            <a:ext cx="10104120" cy="29260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60" b="1">
                <a:solidFill>
                  <a:srgbClr val="0C6475"/>
                </a:solidFill>
                <a:latin typeface="Aptos"/>
              </a:rPr>
              <a:t>With a spherical encoder, geodesic transport improves all four image metrics and keeps the full path on-manifold.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Two independent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Tangent noise changes the encoded representation; classifier-free guidance changes conditional sampling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4/5</a:t>
            </a:r>
          </a:p>
        </p:txBody>
      </p:sp>
      <p:pic>
        <p:nvPicPr>
          <p:cNvPr id="7" name="Picture 6" descr="ablations_v9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243584"/>
            <a:ext cx="11064240" cy="40690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41248" y="5440680"/>
            <a:ext cx="5257800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5532120"/>
            <a:ext cx="489204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10" b="1">
                <a:solidFill>
                  <a:srgbClr val="18375B"/>
                </a:solidFill>
                <a:latin typeface="Aptos"/>
              </a:rPr>
              <a:t>Tangent-noise sweep: σenc = 0.05 gives the best tested reconstruction and generation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5440680"/>
            <a:ext cx="5138928" cy="603504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5532120"/>
            <a:ext cx="4773168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10" b="1">
                <a:solidFill>
                  <a:srgbClr val="0C6475"/>
                </a:solidFill>
                <a:latin typeface="Aptos"/>
              </a:rPr>
              <a:t>CFG sweep: stronger guidance improves FID and precision, while recall decreases.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837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56032"/>
            <a:ext cx="11064240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18375B"/>
                </a:solidFill>
                <a:latin typeface="Aptos"/>
              </a:rPr>
              <a:t>Results across three evaluation settings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49808"/>
            <a:ext cx="10972800" cy="36576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4E5B67"/>
                </a:solidFill>
                <a:latin typeface="Aptos"/>
              </a:rPr>
              <a:t>Natural objects, histopathology textures, and structured faces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537960"/>
            <a:ext cx="859536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ECE 1508 Deep Generative Models  |  Mohammadreza Tavasoli Naeini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528816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828C96"/>
                </a:solidFill>
                <a:latin typeface="Aptos"/>
              </a:rPr>
              <a:t>5/5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ifar_cr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307592"/>
            <a:ext cx="2971800" cy="9692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86384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18375B"/>
                </a:solidFill>
                <a:latin typeface="Aptos"/>
              </a:rPr>
              <a:t>CIFAR-10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6824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path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1307592"/>
            <a:ext cx="2971800" cy="9692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453128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0C6475"/>
                </a:solidFill>
                <a:latin typeface="Aptos"/>
              </a:rPr>
              <a:t>PathMNIST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73568" y="1188720"/>
            <a:ext cx="3246120" cy="1444752"/>
          </a:xfrm>
          <a:prstGeom prst="roundRect">
            <a:avLst/>
          </a:prstGeom>
          <a:solidFill>
            <a:srgbClr val="F2F6F9"/>
          </a:solidFill>
          <a:ln w="1016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celeba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0728" y="1307592"/>
            <a:ext cx="2971800" cy="96926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19872" y="2304288"/>
            <a:ext cx="2953512" cy="237744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50" b="1">
                <a:solidFill>
                  <a:srgbClr val="E07737"/>
                </a:solidFill>
                <a:latin typeface="Aptos"/>
              </a:rPr>
              <a:t>CelebA-64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2907792"/>
            <a:ext cx="123444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926080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Dataset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92808" y="2907792"/>
            <a:ext cx="242316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20240" y="2926080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Evaluation setting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15968" y="2907792"/>
            <a:ext cx="77724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926080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Grid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93208" y="2907792"/>
            <a:ext cx="109728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20640" y="2926080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Recon. FID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90488" y="2907792"/>
            <a:ext cx="109728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0" y="2926080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Gen. FID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87768" y="2907792"/>
            <a:ext cx="91440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0" y="2926080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Prec.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02168" y="2907792"/>
            <a:ext cx="914400" cy="530352"/>
          </a:xfrm>
          <a:prstGeom prst="rect">
            <a:avLst/>
          </a:prstGeom>
          <a:solidFill>
            <a:srgbClr val="18375B"/>
          </a:solidFill>
          <a:ln w="762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2926080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1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3438144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3456432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CIFAR-10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892808" y="3438144"/>
            <a:ext cx="2423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920240" y="3456432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Geometry + sampling ablations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315968" y="3438144"/>
            <a:ext cx="777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3456432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 × 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93208" y="3438144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20640" y="3456432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17.53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0488" y="3438144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0" y="3456432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48.71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287768" y="3438144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3456432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0.861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02168" y="3438144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29600" y="3456432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0.090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3968496"/>
            <a:ext cx="123444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85800" y="3986783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PathMNIST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92808" y="3968496"/>
            <a:ext cx="242316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920240" y="3986783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Histopathology transfer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15968" y="3968496"/>
            <a:ext cx="77724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43400" y="3986783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 × 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93208" y="3968496"/>
            <a:ext cx="109728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120640" y="3986783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7.13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90488" y="3968496"/>
            <a:ext cx="109728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17920" y="3986783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29.36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287768" y="3968496"/>
            <a:ext cx="91440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0" y="3986783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0.829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202168" y="3968496"/>
            <a:ext cx="914400" cy="530352"/>
          </a:xfrm>
          <a:prstGeom prst="rect">
            <a:avLst/>
          </a:prstGeom>
          <a:solidFill>
            <a:srgbClr val="F2F6F9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3986783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0.309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4498848"/>
            <a:ext cx="12344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85800" y="4517136"/>
            <a:ext cx="11795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CelebA-64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92808" y="4498848"/>
            <a:ext cx="242316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920240" y="4517136"/>
            <a:ext cx="236829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64 × 64 face generation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315968" y="4498848"/>
            <a:ext cx="77724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43400" y="4517136"/>
            <a:ext cx="72237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8 × 8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093208" y="4498848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120640" y="4517136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9.08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190488" y="4498848"/>
            <a:ext cx="109728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217920" y="4517136"/>
            <a:ext cx="1042415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41.22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7287768" y="4498848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315200" y="4517136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0.657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202168" y="4498848"/>
            <a:ext cx="914400" cy="530352"/>
          </a:xfrm>
          <a:prstGeom prst="rect">
            <a:avLst/>
          </a:prstGeom>
          <a:solidFill>
            <a:srgbClr val="FFFFFF"/>
          </a:solidFill>
          <a:ln w="7620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229600" y="4517136"/>
            <a:ext cx="859536" cy="493775"/>
          </a:xfrm>
          <a:prstGeom prst="rect">
            <a:avLst/>
          </a:prstGeom>
          <a:noFill/>
        </p:spPr>
        <p:txBody>
          <a:bodyPr wrap="square" lIns="9144" rIns="9144" tIns="9144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40" b="0">
                <a:solidFill>
                  <a:srgbClr val="222930"/>
                </a:solidFill>
                <a:latin typeface="Aptos"/>
              </a:rPr>
              <a:t>0.198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04672" y="5330952"/>
            <a:ext cx="10625328" cy="713232"/>
          </a:xfrm>
          <a:prstGeom prst="roundRect">
            <a:avLst/>
          </a:prstGeom>
          <a:solidFill>
            <a:srgbClr val="EBF7F8"/>
          </a:solidFill>
          <a:ln w="12700">
            <a:solidFill>
              <a:srgbClr val="0F7E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24128" y="5431536"/>
            <a:ext cx="10186416" cy="49377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520" b="0">
                <a:solidFill>
                  <a:srgbClr val="0C6475"/>
                </a:solidFill>
                <a:latin typeface="Aptos"/>
              </a:rPr>
              <a:t>CIFAR-10 provides the controlled ablations; PathMNIST tests texture transfer; CelebA-64 tests resolution and token-grid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