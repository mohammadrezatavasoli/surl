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1106424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8375B"/>
                </a:solidFill>
                <a:latin typeface="Aptos"/>
              </a:rPr>
              <a:t>SRUL: Spatial Spherical Latents with Riemannian Flow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/>
            <a:r>
              <a:rPr sz="1800">
                <a:latin typeface="Aptos"/>
              </a:rPr>
              <a:t>Match the prior to the latent support learned by the autoencoder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8595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ECE 1508 Deep Generative Models  |  Mohammadreza Tavasoli Naeini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88720"/>
            <a:ext cx="4526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/>
            <a:r>
              <a:rPr sz="1700">
                <a:latin typeface="Aptos"/>
              </a:rPr>
              <a:t>Motivation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27632"/>
            <a:ext cx="4407408" cy="6126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19072"/>
            <a:ext cx="4041648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1">
                <a:solidFill>
                  <a:srgbClr val="222930"/>
                </a:solidFill>
                <a:latin typeface="Aptos"/>
              </a:rPr>
              <a:t>An autoencoder does not have to produce Gaussian latents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395728"/>
            <a:ext cx="4407408" cy="713232"/>
          </a:xfrm>
          <a:prstGeom prst="roundRect">
            <a:avLst/>
          </a:prstGeom>
          <a:solidFill>
            <a:srgbClr val="EBF7F8"/>
          </a:solidFill>
          <a:ln w="12700">
            <a:solidFill>
              <a:srgbClr val="0F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487168"/>
            <a:ext cx="4041648" cy="5212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/>
            <a:r>
              <a:rPr sz="1500">
                <a:latin typeface="Aptos"/>
              </a:rPr>
              <a:t>Normalization can make token norms nearly constant</a:t>
            </a:r>
          </a:p>
          <a:p>
            <a:r>
              <a:rPr sz="1500">
                <a:latin typeface="Aptos"/>
              </a:rPr>
              <a:t>(e.g., Transformer + LayerNorm)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64408"/>
            <a:ext cx="4407408" cy="713232"/>
          </a:xfrm>
          <a:prstGeom prst="roundRect">
            <a:avLst/>
          </a:prstGeom>
          <a:solidFill>
            <a:srgbClr val="FFF4EB"/>
          </a:solidFill>
          <a:ln w="12700">
            <a:solidFill>
              <a:srgbClr val="E07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355848"/>
            <a:ext cx="4041648" cy="521207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/>
            <a:r>
              <a:rPr sz="1500">
                <a:latin typeface="Aptos"/>
              </a:rPr>
              <a:t>The prior can mismatch the latent support</a:t>
            </a:r>
          </a:p>
          <a:p>
            <a:r>
              <a:rPr sz="1500">
                <a:latin typeface="Aptos"/>
              </a:rPr>
              <a:t>or leave it along the transport path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215384"/>
            <a:ext cx="4526280" cy="914400"/>
          </a:xfrm>
          <a:prstGeom prst="roundRect">
            <a:avLst/>
          </a:prstGeom>
          <a:solidFill>
            <a:srgbClr val="EBF7F8"/>
          </a:solidFill>
          <a:ln w="17780">
            <a:solidFill>
              <a:srgbClr val="0F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297680"/>
            <a:ext cx="40416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r>
              <a:rPr sz="1600" b="1">
                <a:latin typeface="Aptos"/>
              </a:rPr>
              <a:t>Main contribution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640000"/>
            <a:ext cx="4041648" cy="2700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r>
              <a:rPr sz="1430">
                <a:solidFill>
                  <a:srgbClr val="142837"/>
                </a:solidFill>
                <a:latin typeface="Aptos"/>
              </a:rPr>
              <a:t>Train spherical tokens and RFM together</a:t>
            </a:r>
          </a:p>
          <a:p>
            <a:r>
              <a:rPr sz="1430">
                <a:solidFill>
                  <a:srgbClr val="142837"/>
                </a:solidFill>
                <a:latin typeface="Aptos"/>
              </a:rPr>
              <a:t>then test path and support mismatch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" y="5367528"/>
            <a:ext cx="4087368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5449824"/>
            <a:ext cx="380390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1">
                <a:solidFill>
                  <a:srgbClr val="18375B"/>
                </a:solidFill>
                <a:latin typeface="Aptos"/>
              </a:rPr>
              <a:t>CIFAR-10  •  PathMNIST  •  CelebA-64</a:t>
            </a:r>
          </a:p>
        </p:txBody>
      </p:sp>
      <p:pic>
        <p:nvPicPr>
          <p:cNvPr id="19" name="Picture 18" descr="geometry_schematic_v9_no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133856"/>
            <a:ext cx="6199632" cy="5138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1106424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8375B"/>
                </a:solidFill>
                <a:latin typeface="Aptos"/>
              </a:rPr>
              <a:t>SRUL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4E5B67"/>
                </a:solidFill>
                <a:latin typeface="Aptos"/>
              </a:rPr>
              <a:t>Learn the spherical representation, learn its distribution, then sample on the same manifold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8595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ECE 1508 Deep Generative Models  |  Mohammadreza Tavasoli Naeini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2/5</a:t>
            </a:r>
          </a:p>
        </p:txBody>
      </p:sp>
      <p:pic>
        <p:nvPicPr>
          <p:cNvPr id="7" name="Picture 6" descr="srul_pipeline_v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33856"/>
            <a:ext cx="11365992" cy="4892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60120" y="6053328"/>
            <a:ext cx="10287000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6099048"/>
            <a:ext cx="1001268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1">
                <a:solidFill>
                  <a:srgbClr val="4E5B67"/>
                </a:solidFill>
                <a:latin typeface="Aptos"/>
              </a:rPr>
              <a:t>Core geometry: token normalization + tangent perturbation + SLERP + tangent projection + exponential-map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11064240" cy="493776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l"/>
            <a:r>
              <a:rPr sz="2700" b="1">
                <a:solidFill>
                  <a:srgbClr val="18375B"/>
                </a:solidFill>
                <a:latin typeface="Aptos"/>
              </a:rPr>
              <a:t>Why the autoencoder and prior must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/>
            <a:r>
              <a:rPr sz="1550">
                <a:solidFill>
                  <a:srgbClr val="4E5B67"/>
                </a:solidFill>
                <a:latin typeface="Aptos"/>
              </a:rPr>
              <a:t>Two controlled tests separate path mismatch from support mismatch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8595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ECE 1508 Deep Generative Models  |  Mohammadreza Tavasoli Naeini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3/5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43000"/>
            <a:ext cx="4983480" cy="3794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23560" y="1024128"/>
            <a:ext cx="5897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375B"/>
                </a:solidFill>
                <a:latin typeface="Aptos"/>
              </a:rPr>
              <a:t>1. Path match: same spherical autoencoder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23560" y="1371600"/>
          <a:ext cx="521208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685800"/>
                <a:gridCol w="868680"/>
                <a:gridCol w="731520"/>
                <a:gridCol w="777240"/>
                <a:gridCol w="914400"/>
              </a:tblGrid>
              <a:tr h="390144">
                <a:tc>
                  <a:txBody>
                    <a:bodyPr anchor="ctr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Method</a:t>
                      </a:r>
                    </a:p>
                  </a:txBody>
                  <a:tcPr marL="54864" marR="36576">
                    <a:solidFill>
                      <a:srgbClr val="18375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FID</a:t>
                      </a:r>
                    </a:p>
                  </a:txBody>
                  <a:tcPr marL="54864" marR="36576">
                    <a:solidFill>
                      <a:srgbClr val="18375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KID</a:t>
                      </a:r>
                    </a:p>
                  </a:txBody>
                  <a:tcPr marL="54864" marR="36576">
                    <a:solidFill>
                      <a:srgbClr val="18375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Prec.</a:t>
                      </a:r>
                    </a:p>
                  </a:txBody>
                  <a:tcPr marL="54864" marR="36576">
                    <a:solidFill>
                      <a:srgbClr val="18375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Recall</a:t>
                      </a:r>
                    </a:p>
                  </a:txBody>
                  <a:tcPr marL="54864" marR="36576">
                    <a:solidFill>
                      <a:srgbClr val="18375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Min norm</a:t>
                      </a:r>
                    </a:p>
                  </a:txBody>
                  <a:tcPr marL="54864" marR="36576">
                    <a:solidFill>
                      <a:srgbClr val="18375B"/>
                    </a:solidFill>
                  </a:tcPr>
                </a:tc>
              </a:tr>
              <a:tr h="390144">
                <a:tc>
                  <a:txBody>
                    <a:bodyPr anchor="ctr"/>
                    <a:lstStyle/>
                    <a:p>
                      <a:pPr algn="l"/>
                      <a:r>
                        <a:rPr sz="1250" b="0">
                          <a:solidFill>
                            <a:srgbClr val="4E5B67"/>
                          </a:solidFill>
                          <a:latin typeface="Aptos"/>
                        </a:rPr>
                        <a:t>Chord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4E5B67"/>
                          </a:solidFill>
                          <a:latin typeface="Aptos"/>
                        </a:rPr>
                        <a:t>67.44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4E5B67"/>
                          </a:solidFill>
                          <a:latin typeface="Aptos"/>
                        </a:rPr>
                        <a:t>0.0740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4E5B67"/>
                          </a:solidFill>
                          <a:latin typeface="Aptos"/>
                        </a:rPr>
                        <a:t>0.840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4E5B67"/>
                          </a:solidFill>
                          <a:latin typeface="Aptos"/>
                        </a:rPr>
                        <a:t>0.085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4E5B67"/>
                          </a:solidFill>
                          <a:latin typeface="Aptos"/>
                        </a:rPr>
                        <a:t>0.705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anchor="ctr"/>
                    <a:lstStyle/>
                    <a:p>
                      <a:pPr algn="l"/>
                      <a:r>
                        <a:rPr sz="1250" b="1">
                          <a:solidFill>
                            <a:srgbClr val="4E5B67"/>
                          </a:solidFill>
                          <a:latin typeface="Aptos"/>
                        </a:rPr>
                        <a:t>SRUL</a:t>
                      </a:r>
                    </a:p>
                  </a:txBody>
                  <a:tcPr marL="54864" marR="36576">
                    <a:solidFill>
                      <a:srgbClr val="E5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1">
                          <a:solidFill>
                            <a:srgbClr val="4E5B67"/>
                          </a:solidFill>
                          <a:latin typeface="Aptos"/>
                        </a:rPr>
                        <a:t>63.84</a:t>
                      </a:r>
                    </a:p>
                  </a:txBody>
                  <a:tcPr marL="54864" marR="36576">
                    <a:solidFill>
                      <a:srgbClr val="E5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1">
                          <a:solidFill>
                            <a:srgbClr val="4E5B67"/>
                          </a:solidFill>
                          <a:latin typeface="Aptos"/>
                        </a:rPr>
                        <a:t>0.0667</a:t>
                      </a:r>
                    </a:p>
                  </a:txBody>
                  <a:tcPr marL="54864" marR="36576">
                    <a:solidFill>
                      <a:srgbClr val="E5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1">
                          <a:solidFill>
                            <a:srgbClr val="4E5B67"/>
                          </a:solidFill>
                          <a:latin typeface="Aptos"/>
                        </a:rPr>
                        <a:t>0.857</a:t>
                      </a:r>
                    </a:p>
                  </a:txBody>
                  <a:tcPr marL="54864" marR="36576">
                    <a:solidFill>
                      <a:srgbClr val="E5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1">
                          <a:solidFill>
                            <a:srgbClr val="4E5B67"/>
                          </a:solidFill>
                          <a:latin typeface="Aptos"/>
                        </a:rPr>
                        <a:t>0.091</a:t>
                      </a:r>
                    </a:p>
                  </a:txBody>
                  <a:tcPr marL="54864" marR="36576">
                    <a:solidFill>
                      <a:srgbClr val="E5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1">
                          <a:solidFill>
                            <a:srgbClr val="4E5B67"/>
                          </a:solidFill>
                          <a:latin typeface="Aptos"/>
                        </a:rPr>
                        <a:t>1.000</a:t>
                      </a:r>
                    </a:p>
                  </a:txBody>
                  <a:tcPr marL="54864" marR="36576">
                    <a:solidFill>
                      <a:srgbClr val="E5F2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23560" y="2761488"/>
            <a:ext cx="58978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1500" b="1">
                <a:solidFill>
                  <a:srgbClr val="18375B"/>
                </a:solidFill>
                <a:latin typeface="Aptos Display"/>
              </a:rPr>
              <a:t>2. Support match: SRUL vs. the same VAE with two priors (CFG =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4485000"/>
            <a:ext cx="56692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1180">
                <a:solidFill>
                  <a:srgbClr val="262626"/>
                </a:solidFill>
                <a:latin typeface="Aptos"/>
              </a:rPr>
              <a:t>Same VAE: radius CV = 0.291; mean-radius replacement changes reconstruction FID 16.90 → 22.46.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102352"/>
            <a:ext cx="10881360" cy="713232"/>
          </a:xfrm>
          <a:prstGeom prst="roundRect">
            <a:avLst/>
          </a:prstGeom>
          <a:solidFill>
            <a:srgbClr val="E5F2F6"/>
          </a:solidFill>
          <a:ln w="15240">
            <a:solidFill>
              <a:srgbClr val="0B8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175504"/>
            <a:ext cx="10469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1330">
                <a:solidFill>
                  <a:srgbClr val="142837"/>
                </a:solidFill>
                <a:latin typeface="Aptos"/>
              </a:rPr>
              <a:t>SRUL learns spherical support before RFM. Projecting a VAE after training removes radius information.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623560" y="3070000"/>
          <a:ext cx="4919472" cy="132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758952"/>
                <a:gridCol w="822960"/>
                <a:gridCol w="822960"/>
              </a:tblGrid>
              <a:tr h="33125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Method</a:t>
                      </a:r>
                    </a:p>
                  </a:txBody>
                  <a:tcPr anchor="ctr" marL="45720" marR="45720" marT="18288" marB="18288">
                    <a:solidFill>
                      <a:srgbClr val="183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Aptos"/>
                        </a:rPr>
                        <a:t>FID</a:t>
                      </a:r>
                    </a:p>
                  </a:txBody>
                  <a:tcPr anchor="ctr" marL="45720" marR="45720" marT="18288" marB="18288">
                    <a:solidFill>
                      <a:srgbClr val="183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Aptos"/>
                        </a:rPr>
                        <a:t>Prec.</a:t>
                      </a:r>
                    </a:p>
                  </a:txBody>
                  <a:tcPr anchor="ctr" marL="45720" marR="45720" marT="18288" marB="18288">
                    <a:solidFill>
                      <a:srgbClr val="183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Aptos"/>
                        </a:rPr>
                        <a:t>Recall</a:t>
                      </a:r>
                    </a:p>
                  </a:txBody>
                  <a:tcPr anchor="ctr" marL="45720" marR="45720" marT="18288" marB="18288">
                    <a:solidFill>
                      <a:srgbClr val="18375B"/>
                    </a:solidFill>
                  </a:tcPr>
                </a:tc>
              </a:tr>
              <a:tr h="33125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42837"/>
                          </a:solidFill>
                          <a:latin typeface="Aptos"/>
                        </a:rPr>
                        <a:t>SRUL: spherical AE + RFM</a:t>
                      </a:r>
                    </a:p>
                  </a:txBody>
                  <a:tcPr anchor="ctr" marL="45720" marR="45720" marT="18288" marB="18288">
                    <a:solidFill>
                      <a:srgbClr val="E5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142837"/>
                          </a:solidFill>
                          <a:latin typeface="Aptos"/>
                        </a:rPr>
                        <a:t>49.42</a:t>
                      </a:r>
                    </a:p>
                  </a:txBody>
                  <a:tcPr anchor="ctr" marL="45720" marR="45720" marT="18288" marB="18288">
                    <a:solidFill>
                      <a:srgbClr val="E5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142837"/>
                          </a:solidFill>
                          <a:latin typeface="Aptos"/>
                        </a:rPr>
                        <a:t>0.857</a:t>
                      </a:r>
                    </a:p>
                  </a:txBody>
                  <a:tcPr anchor="ctr" marL="45720" marR="45720" marT="18288" marB="18288">
                    <a:solidFill>
                      <a:srgbClr val="E5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142837"/>
                          </a:solidFill>
                          <a:latin typeface="Aptos"/>
                        </a:rPr>
                        <a:t>0.110</a:t>
                      </a:r>
                    </a:p>
                  </a:txBody>
                  <a:tcPr anchor="ctr" marL="45720" marR="45720" marT="18288" marB="18288">
                    <a:solidFill>
                      <a:srgbClr val="E5F2F6"/>
                    </a:solidFill>
                  </a:tcPr>
                </a:tc>
              </a:tr>
              <a:tr h="331250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42837"/>
                          </a:solidFill>
                          <a:latin typeface="Aptos"/>
                        </a:rPr>
                        <a:t>VAE + standard FM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42837"/>
                          </a:solidFill>
                          <a:latin typeface="Aptos"/>
                        </a:rPr>
                        <a:t>50.70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42837"/>
                          </a:solidFill>
                          <a:latin typeface="Aptos"/>
                        </a:rPr>
                        <a:t>0.855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42837"/>
                          </a:solidFill>
                          <a:latin typeface="Aptos"/>
                        </a:rPr>
                        <a:t>0.091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31250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42837"/>
                          </a:solidFill>
                          <a:latin typeface="Aptos"/>
                        </a:rPr>
                        <a:t>VAE + projected RFM</a:t>
                      </a:r>
                    </a:p>
                  </a:txBody>
                  <a:tcPr anchor="ctr" marL="45720" marR="45720" marT="18288" marB="18288">
                    <a:solidFill>
                      <a:srgbClr val="FF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42837"/>
                          </a:solidFill>
                          <a:latin typeface="Aptos"/>
                        </a:rPr>
                        <a:t>56.04</a:t>
                      </a:r>
                    </a:p>
                  </a:txBody>
                  <a:tcPr anchor="ctr" marL="45720" marR="45720" marT="18288" marB="18288">
                    <a:solidFill>
                      <a:srgbClr val="FF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42837"/>
                          </a:solidFill>
                          <a:latin typeface="Aptos"/>
                        </a:rPr>
                        <a:t>0.848</a:t>
                      </a:r>
                    </a:p>
                  </a:txBody>
                  <a:tcPr anchor="ctr" marL="45720" marR="45720" marT="18288" marB="18288">
                    <a:solidFill>
                      <a:srgbClr val="FF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42837"/>
                          </a:solidFill>
                          <a:latin typeface="Aptos"/>
                        </a:rPr>
                        <a:t>0.063</a:t>
                      </a:r>
                    </a:p>
                  </a:txBody>
                  <a:tcPr anchor="ctr" marL="45720" marR="45720" marT="18288" marB="18288">
                    <a:solidFill>
                      <a:srgbClr val="FFF1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1106424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8375B"/>
                </a:solidFill>
                <a:latin typeface="Aptos"/>
              </a:rPr>
              <a:t>Two controls after the geometry is chosen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4E5B67"/>
                </a:solidFill>
                <a:latin typeface="Aptos"/>
              </a:rPr>
              <a:t>Tangent noise changes the latent representation; classifier-free guidance changes sampling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8595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ECE 1508 Deep Generative Models  |  Mohammadreza Tavasoli Naeini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4/5</a:t>
            </a:r>
          </a:p>
        </p:txBody>
      </p:sp>
      <p:pic>
        <p:nvPicPr>
          <p:cNvPr id="7" name="Picture 6" descr="ablations_v9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43584"/>
            <a:ext cx="11064240" cy="4069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5440680"/>
            <a:ext cx="525780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532120"/>
            <a:ext cx="489204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10" b="1">
                <a:solidFill>
                  <a:srgbClr val="18375B"/>
                </a:solidFill>
                <a:latin typeface="Aptos"/>
              </a:rPr>
              <a:t>Tangent-noise sweep: σenc = 0.05 gives the best tested reconstruction and generation quality.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5440680"/>
            <a:ext cx="5138928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532120"/>
            <a:ext cx="477316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10" b="1">
                <a:solidFill>
                  <a:srgbClr val="0C6475"/>
                </a:solidFill>
                <a:latin typeface="Aptos"/>
              </a:rPr>
              <a:t>CFG sweep: stronger guidance improves FID and precision, while recall decreases.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1106424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/>
            <a:r>
              <a:rPr sz="2700" b="1">
                <a:solidFill>
                  <a:srgbClr val="18375B"/>
                </a:solidFill>
                <a:latin typeface="Aptos"/>
              </a:rPr>
              <a:t>SRUL in three image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4E5B67"/>
                </a:solidFill>
                <a:latin typeface="Aptos"/>
              </a:rPr>
              <a:t>The same method is tested on different image structure and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8595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ECE 1508 Deep Generative Models  |  Mohammadreza Tavasoli Naeini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5/5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3246120" cy="1444752"/>
          </a:xfrm>
          <a:prstGeom prst="roundRect">
            <a:avLst/>
          </a:prstGeom>
          <a:solidFill>
            <a:srgbClr val="F2F6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ifa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07592"/>
            <a:ext cx="2971800" cy="9692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6384" y="2304288"/>
            <a:ext cx="295351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18375B"/>
                </a:solidFill>
                <a:latin typeface="Aptos"/>
              </a:rPr>
              <a:t>CIFAR-10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1188720"/>
            <a:ext cx="3246120" cy="1444752"/>
          </a:xfrm>
          <a:prstGeom prst="roundRect">
            <a:avLst/>
          </a:prstGeom>
          <a:solidFill>
            <a:srgbClr val="F2F6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ath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1307592"/>
            <a:ext cx="2971800" cy="9692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53128" y="2304288"/>
            <a:ext cx="295351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0C6475"/>
                </a:solidFill>
                <a:latin typeface="Aptos"/>
              </a:rPr>
              <a:t>PathMNIST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1188720"/>
            <a:ext cx="3246120" cy="1444752"/>
          </a:xfrm>
          <a:prstGeom prst="roundRect">
            <a:avLst/>
          </a:prstGeom>
          <a:solidFill>
            <a:srgbClr val="F2F6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eleba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728" y="1307592"/>
            <a:ext cx="2971800" cy="9692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19872" y="2304288"/>
            <a:ext cx="295351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E07737"/>
                </a:solidFill>
                <a:latin typeface="Aptos"/>
              </a:rPr>
              <a:t>CelebA-64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907792"/>
            <a:ext cx="123444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926080"/>
            <a:ext cx="11795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Dataset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92808" y="2907792"/>
            <a:ext cx="242316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40" y="2926080"/>
            <a:ext cx="236829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Evaluation setting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5968" y="2907792"/>
            <a:ext cx="77724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2926080"/>
            <a:ext cx="7223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Grid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93208" y="2907792"/>
            <a:ext cx="109728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2926080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Recon. FID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0488" y="2907792"/>
            <a:ext cx="109728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926080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Gen. FID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87768" y="2907792"/>
            <a:ext cx="91440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2926080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Prec.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02168" y="2907792"/>
            <a:ext cx="91440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926080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Recall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3438144"/>
            <a:ext cx="12344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456432"/>
            <a:ext cx="11795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CIFAR-10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92808" y="3438144"/>
            <a:ext cx="24231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20240" y="3456432"/>
            <a:ext cx="236829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Geometry + sampling ablations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15968" y="3438144"/>
            <a:ext cx="7772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3456432"/>
            <a:ext cx="7223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4 × 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93208" y="3438144"/>
            <a:ext cx="10972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3456432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17.53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0488" y="3438144"/>
            <a:ext cx="10972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3456432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48.71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87768" y="3438144"/>
            <a:ext cx="9144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0" y="3456432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0.861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02168" y="3438144"/>
            <a:ext cx="9144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3456432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0.090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3968496"/>
            <a:ext cx="123444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3986783"/>
            <a:ext cx="11795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PathMNIST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92808" y="3968496"/>
            <a:ext cx="242316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20240" y="3986783"/>
            <a:ext cx="236829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Histopathology transfer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15968" y="3968496"/>
            <a:ext cx="77724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43400" y="3986783"/>
            <a:ext cx="7223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4 × 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93208" y="3968496"/>
            <a:ext cx="109728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20640" y="3986783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7.13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90488" y="3968496"/>
            <a:ext cx="109728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17920" y="3986783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29.36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87768" y="3968496"/>
            <a:ext cx="91440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0" y="3986783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0.829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02168" y="3968496"/>
            <a:ext cx="91440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0" y="3986783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0.309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" y="4498848"/>
            <a:ext cx="12344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4517136"/>
            <a:ext cx="11795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CelebA-64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92808" y="4498848"/>
            <a:ext cx="24231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20240" y="4517136"/>
            <a:ext cx="236829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64 × 64 face generation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15968" y="4498848"/>
            <a:ext cx="7772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43400" y="4517136"/>
            <a:ext cx="7223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8 × 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93208" y="4498848"/>
            <a:ext cx="10972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20640" y="4517136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9.08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90488" y="4498848"/>
            <a:ext cx="10972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17920" y="4517136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41.22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287768" y="4498848"/>
            <a:ext cx="9144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0" y="4517136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0.657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02168" y="4498848"/>
            <a:ext cx="9144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29600" y="4517136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0.198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04672" y="5330952"/>
            <a:ext cx="10625328" cy="713232"/>
          </a:xfrm>
          <a:prstGeom prst="roundRect">
            <a:avLst/>
          </a:prstGeom>
          <a:solidFill>
            <a:srgbClr val="EBF7F8"/>
          </a:solidFill>
          <a:ln w="12700">
            <a:solidFill>
              <a:srgbClr val="0F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24128" y="5431536"/>
            <a:ext cx="10186416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/>
            <a:r>
              <a:rPr sz="1600">
                <a:latin typeface="Aptos"/>
              </a:rPr>
              <a:t>CIFAR-10 tests geometry and controls; PathMNIST tests texture transfer; CelebA-64 tests 64 × 64 faces.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