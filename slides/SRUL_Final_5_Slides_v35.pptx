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2550">
                <a:latin typeface="Aptos Display"/>
              </a:rPr>
              <a:t>Learning Spatial Unit-Norm Latents with Riemannian Flow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800">
                <a:latin typeface="Aptos"/>
              </a:rPr>
              <a:t>SRUL: Spherical Riemannian Unit-Norm Latents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7D8C9A"/>
                </a:solidFill>
                <a:latin typeface="Aptos"/>
              </a:rPr>
              <a:t>ECE 1508 Deep Generative Models  |  Group 3  |  Mohammadreza Tavasoli Naeini &amp; Raman Mangla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35024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700">
                <a:latin typeface="Aptos"/>
              </a:rPr>
              <a:t>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73936"/>
            <a:ext cx="4407408" cy="6126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40416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222930"/>
                </a:solidFill>
                <a:latin typeface="Aptos"/>
              </a:rPr>
              <a:t>An autoencoder does not have to produce Gaussian latents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42032"/>
            <a:ext cx="440740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4041648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500">
                <a:latin typeface="Aptos"/>
              </a:rPr>
              <a:t>Normalization can make token norms nearly constant</a:t>
            </a:r>
          </a:p>
          <a:p>
            <a:r>
              <a:rPr sz="1500">
                <a:latin typeface="Aptos"/>
              </a:rPr>
              <a:t>(e.g., Transformer + LayerNorm)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410712"/>
            <a:ext cx="4407408" cy="713232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E0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02152"/>
            <a:ext cx="4041648" cy="521207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/>
            <a:r>
              <a:rPr sz="1500">
                <a:latin typeface="Aptos"/>
              </a:rPr>
              <a:t>The prior can mismatch the latent support</a:t>
            </a:r>
          </a:p>
          <a:p>
            <a:r>
              <a:rPr sz="1500">
                <a:latin typeface="Aptos"/>
              </a:rPr>
              <a:t>or leave it along the transport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361688"/>
            <a:ext cx="4526280" cy="914400"/>
          </a:xfrm>
          <a:prstGeom prst="roundRect">
            <a:avLst/>
          </a:prstGeom>
          <a:solidFill>
            <a:srgbClr val="EBF7F8"/>
          </a:solidFill>
          <a:ln w="1778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43984"/>
            <a:ext cx="40416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600" b="1">
                <a:latin typeface="Aptos"/>
              </a:rPr>
              <a:t>Main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09744"/>
            <a:ext cx="4041648" cy="512064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l"/>
            <a:r>
              <a:rPr sz="980">
                <a:solidFill>
                  <a:srgbClr val="141E28"/>
                </a:solidFill>
                <a:latin typeface="Aptos"/>
              </a:rPr>
              <a:t>SRUL learns spatial unit-norm tokens, controls information with tangent noise, and models the same spherical support using RFM.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5513832"/>
            <a:ext cx="4087368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596128"/>
            <a:ext cx="380390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18375B"/>
                </a:solidFill>
                <a:latin typeface="Aptos"/>
              </a:rPr>
              <a:t>CIFAR-10  •  PathMNIST  •  CelebA-64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005840"/>
            <a:ext cx="4800600" cy="228600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060" b="0">
                <a:solidFill>
                  <a:srgbClr val="4F5B69"/>
                </a:solidFill>
                <a:latin typeface="Aptos"/>
              </a:rPr>
              <a:t>Mohammadreza Tavasoli Naeini  •  Raman Mangla   |   Group 3</a:t>
            </a:r>
          </a:p>
        </p:txBody>
      </p:sp>
      <p:pic>
        <p:nvPicPr>
          <p:cNvPr id="21" name="Picture 20" descr="orig_slide1_gamma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33856"/>
            <a:ext cx="6199632" cy="5138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6072" y="6336792"/>
            <a:ext cx="11155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60">
                <a:solidFill>
                  <a:srgbClr val="697480"/>
                </a:solidFill>
                <a:latin typeface="Aptos"/>
              </a:rPr>
              <a:t>Selected refs: VAE (Kingma &amp; Welling, 2014); LDM (Rombach et al., 2022); Flow Matching (Lipman et al., 2023).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3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C3C67"/>
                </a:solidFill>
                <a:latin typeface="Aptos Display"/>
              </a:rPr>
              <a:t>SRUL pipeline and 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50" b="0">
                <a:solidFill>
                  <a:srgbClr val="5C6774"/>
                </a:solidFill>
                <a:latin typeface="Aptos"/>
              </a:rPr>
              <a:t>CIFAR-10 implementation used for the main geometry and ablation experiments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6080760" cy="141732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E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188720"/>
            <a:ext cx="5751576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C3C67"/>
                </a:solidFill>
                <a:latin typeface="Aptos"/>
              </a:rPr>
              <a:t>1  Spatial spherical autoencoder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64008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3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18488"/>
            <a:ext cx="585215" cy="64008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B3352"/>
                </a:solidFill>
                <a:latin typeface="Aptos"/>
              </a:rPr>
              <a:t>Image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352"/>
                </a:solidFill>
                <a:latin typeface="Aptos"/>
              </a:rPr>
              <a:t>3×32×32</a:t>
            </a:r>
          </a:p>
        </p:txBody>
      </p:sp>
      <p:sp>
        <p:nvSpPr>
          <p:cNvPr id="9" name="Chevron 8"/>
          <p:cNvSpPr/>
          <p:nvPr/>
        </p:nvSpPr>
        <p:spPr>
          <a:xfrm>
            <a:off x="1280160" y="1801368"/>
            <a:ext cx="155448" cy="246888"/>
          </a:xfrm>
          <a:prstGeom prst="chevron">
            <a:avLst/>
          </a:prstGeom>
          <a:solidFill>
            <a:srgbClr val="1C3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81328" y="1600200"/>
            <a:ext cx="1618488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3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618488"/>
            <a:ext cx="1563624" cy="64008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B3352"/>
                </a:solidFill>
                <a:latin typeface="Aptos"/>
              </a:rPr>
              <a:t>CNN encoder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B3352"/>
                </a:solidFill>
                <a:latin typeface="Aptos"/>
              </a:rPr>
              <a:t>3→96→192→384→32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B3352"/>
                </a:solidFill>
                <a:latin typeface="Aptos"/>
              </a:rPr>
              <a:t>32×32 → 4×4</a:t>
            </a:r>
          </a:p>
        </p:txBody>
      </p:sp>
      <p:sp>
        <p:nvSpPr>
          <p:cNvPr id="12" name="Chevron 11"/>
          <p:cNvSpPr/>
          <p:nvPr/>
        </p:nvSpPr>
        <p:spPr>
          <a:xfrm>
            <a:off x="3145536" y="1801368"/>
            <a:ext cx="155448" cy="246888"/>
          </a:xfrm>
          <a:prstGeom prst="chevron">
            <a:avLst/>
          </a:prstGeom>
          <a:solidFill>
            <a:srgbClr val="1C3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46703" y="1600200"/>
            <a:ext cx="1188720" cy="676656"/>
          </a:xfrm>
          <a:prstGeom prst="roundRect">
            <a:avLst/>
          </a:prstGeom>
          <a:solidFill>
            <a:srgbClr val="F9F4FC"/>
          </a:solidFill>
          <a:ln w="17780">
            <a:solidFill>
              <a:srgbClr val="8B3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5" y="1618488"/>
            <a:ext cx="1133856" cy="64008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8B35AA"/>
                </a:solidFill>
                <a:latin typeface="Aptos"/>
              </a:rPr>
              <a:t>Unit-norm tokens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8B35AA"/>
                </a:solidFill>
                <a:latin typeface="Aptos"/>
              </a:rPr>
              <a:t>32×4×4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8B35AA"/>
                </a:solidFill>
                <a:latin typeface="Aptos"/>
              </a:rPr>
              <a:t>L2 per token</a:t>
            </a:r>
          </a:p>
        </p:txBody>
      </p:sp>
      <p:sp>
        <p:nvSpPr>
          <p:cNvPr id="15" name="Chevron 14"/>
          <p:cNvSpPr/>
          <p:nvPr/>
        </p:nvSpPr>
        <p:spPr>
          <a:xfrm>
            <a:off x="4581144" y="1801368"/>
            <a:ext cx="155448" cy="246888"/>
          </a:xfrm>
          <a:prstGeom prst="chevron">
            <a:avLst/>
          </a:prstGeom>
          <a:solidFill>
            <a:srgbClr val="F17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82312" y="1600200"/>
            <a:ext cx="1627632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3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1618488"/>
            <a:ext cx="1572768" cy="64008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B3352"/>
                </a:solidFill>
                <a:latin typeface="Aptos"/>
              </a:rPr>
              <a:t>CNN decoder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B3352"/>
                </a:solidFill>
                <a:latin typeface="Aptos"/>
              </a:rPr>
              <a:t>32→384→192→96→3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B3352"/>
                </a:solidFill>
                <a:latin typeface="Aptos"/>
              </a:rPr>
              <a:t>4×4 → 32×32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697480"/>
            <a:ext cx="6080760" cy="1554480"/>
          </a:xfrm>
          <a:prstGeom prst="roundRect">
            <a:avLst/>
          </a:prstGeom>
          <a:solidFill>
            <a:srgbClr val="EEF9FB"/>
          </a:solidFill>
          <a:ln w="15240">
            <a:solidFill>
              <a:srgbClr val="BE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743200"/>
            <a:ext cx="5751576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0089A6"/>
                </a:solidFill>
                <a:latin typeface="Aptos"/>
              </a:rPr>
              <a:t>2  Class-conditioned convolutional RFM prior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3163824"/>
            <a:ext cx="713232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3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2112"/>
            <a:ext cx="658368" cy="694944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089A6"/>
                </a:solidFill>
                <a:latin typeface="Aptos"/>
              </a:rPr>
              <a:t>Sphere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089A6"/>
                </a:solidFill>
                <a:latin typeface="Aptos"/>
              </a:rPr>
              <a:t>noise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089A6"/>
                </a:solidFill>
                <a:latin typeface="Aptos"/>
              </a:rPr>
              <a:t>32×4×4</a:t>
            </a:r>
          </a:p>
        </p:txBody>
      </p:sp>
      <p:sp>
        <p:nvSpPr>
          <p:cNvPr id="22" name="Chevron 21"/>
          <p:cNvSpPr/>
          <p:nvPr/>
        </p:nvSpPr>
        <p:spPr>
          <a:xfrm>
            <a:off x="1335024" y="3392424"/>
            <a:ext cx="146304" cy="237744"/>
          </a:xfrm>
          <a:prstGeom prst="chevron">
            <a:avLst/>
          </a:prstGeom>
          <a:solidFill>
            <a:srgbClr val="008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27048" y="3163824"/>
            <a:ext cx="749808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3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3182112"/>
            <a:ext cx="694944" cy="694944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89A6"/>
                </a:solidFill>
                <a:latin typeface="Aptos"/>
              </a:rPr>
              <a:t>SLERP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89A6"/>
                </a:solidFill>
                <a:latin typeface="Aptos"/>
              </a:rPr>
              <a:t>state zₜ</a:t>
            </a:r>
          </a:p>
        </p:txBody>
      </p:sp>
      <p:sp>
        <p:nvSpPr>
          <p:cNvPr id="25" name="Chevron 24"/>
          <p:cNvSpPr/>
          <p:nvPr/>
        </p:nvSpPr>
        <p:spPr>
          <a:xfrm>
            <a:off x="2322576" y="3392424"/>
            <a:ext cx="146304" cy="237744"/>
          </a:xfrm>
          <a:prstGeom prst="chevron">
            <a:avLst/>
          </a:prstGeom>
          <a:solidFill>
            <a:srgbClr val="008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14600" y="3163824"/>
            <a:ext cx="16459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3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42032" y="3182112"/>
            <a:ext cx="1591056" cy="694944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089A6"/>
                </a:solidFill>
                <a:latin typeface="Aptos"/>
              </a:rPr>
              <a:t>Conv RFM prior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89A6"/>
                </a:solidFill>
                <a:latin typeface="Aptos"/>
              </a:rPr>
              <a:t>32→256→32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89A6"/>
                </a:solidFill>
                <a:latin typeface="Aptos"/>
              </a:rPr>
              <a:t>6 ResBlocks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0089A6"/>
                </a:solidFill>
                <a:latin typeface="Aptos"/>
              </a:rPr>
              <a:t>128-D time + class</a:t>
            </a:r>
          </a:p>
        </p:txBody>
      </p:sp>
      <p:sp>
        <p:nvSpPr>
          <p:cNvPr id="28" name="Chevron 27"/>
          <p:cNvSpPr/>
          <p:nvPr/>
        </p:nvSpPr>
        <p:spPr>
          <a:xfrm>
            <a:off x="4206240" y="3392424"/>
            <a:ext cx="146304" cy="237744"/>
          </a:xfrm>
          <a:prstGeom prst="chevron">
            <a:avLst/>
          </a:prstGeom>
          <a:solidFill>
            <a:srgbClr val="8B3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98264" y="3163824"/>
            <a:ext cx="868680" cy="731520"/>
          </a:xfrm>
          <a:prstGeom prst="roundRect">
            <a:avLst/>
          </a:prstGeom>
          <a:solidFill>
            <a:srgbClr val="F9F4FC"/>
          </a:solidFill>
          <a:ln w="17780">
            <a:solidFill>
              <a:srgbClr val="8B3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3182112"/>
            <a:ext cx="813815" cy="694944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8B35AA"/>
                </a:solidFill>
                <a:latin typeface="Aptos"/>
              </a:rPr>
              <a:t>Tangent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8B35AA"/>
                </a:solidFill>
                <a:latin typeface="Aptos"/>
              </a:rPr>
              <a:t>velocity</a:t>
            </a:r>
          </a:p>
        </p:txBody>
      </p:sp>
      <p:sp>
        <p:nvSpPr>
          <p:cNvPr id="31" name="Chevron 30"/>
          <p:cNvSpPr/>
          <p:nvPr/>
        </p:nvSpPr>
        <p:spPr>
          <a:xfrm>
            <a:off x="5312664" y="3392424"/>
            <a:ext cx="146304" cy="237744"/>
          </a:xfrm>
          <a:prstGeom prst="chevron">
            <a:avLst/>
          </a:prstGeom>
          <a:solidFill>
            <a:srgbClr val="0B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04688" y="3163824"/>
            <a:ext cx="713232" cy="731520"/>
          </a:xfrm>
          <a:prstGeom prst="roundRect">
            <a:avLst/>
          </a:prstGeom>
          <a:solidFill>
            <a:srgbClr val="F1FAF6"/>
          </a:solidFill>
          <a:ln w="17780">
            <a:solidFill>
              <a:srgbClr val="0B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3182112"/>
            <a:ext cx="658368" cy="694944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0B8F55"/>
                </a:solidFill>
                <a:latin typeface="Aptos"/>
              </a:rPr>
              <a:t>Target uₜ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407408"/>
            <a:ext cx="6080760" cy="1143000"/>
          </a:xfrm>
          <a:prstGeom prst="roundRect">
            <a:avLst/>
          </a:prstGeom>
          <a:solidFill>
            <a:srgbClr val="FFF8F1"/>
          </a:solidFill>
          <a:ln w="15240">
            <a:solidFill>
              <a:srgbClr val="BE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4453128"/>
            <a:ext cx="575157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17719"/>
                </a:solidFill>
                <a:latin typeface="Aptos"/>
              </a:rPr>
              <a:t>3  Riemannian ODE sampling and decoding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892040"/>
            <a:ext cx="64008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3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910327"/>
            <a:ext cx="585215" cy="43891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1B3352"/>
                </a:solidFill>
                <a:latin typeface="Aptos"/>
              </a:rPr>
              <a:t>Noise</a:t>
            </a:r>
          </a:p>
        </p:txBody>
      </p:sp>
      <p:sp>
        <p:nvSpPr>
          <p:cNvPr id="38" name="Chevron 37"/>
          <p:cNvSpPr/>
          <p:nvPr/>
        </p:nvSpPr>
        <p:spPr>
          <a:xfrm>
            <a:off x="1325880" y="5001768"/>
            <a:ext cx="155448" cy="246888"/>
          </a:xfrm>
          <a:prstGeom prst="chevron">
            <a:avLst/>
          </a:prstGeom>
          <a:solidFill>
            <a:srgbClr val="008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527048" y="4837176"/>
            <a:ext cx="1508760" cy="585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177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54480" y="4855464"/>
            <a:ext cx="1453895" cy="54864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F17719"/>
                </a:solidFill>
                <a:latin typeface="Aptos"/>
              </a:rPr>
              <a:t>100 Exp-map steps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17719"/>
                </a:solidFill>
                <a:latin typeface="Aptos"/>
              </a:rPr>
              <a:t>projected velocity</a:t>
            </a:r>
          </a:p>
        </p:txBody>
      </p:sp>
      <p:sp>
        <p:nvSpPr>
          <p:cNvPr id="41" name="Chevron 40"/>
          <p:cNvSpPr/>
          <p:nvPr/>
        </p:nvSpPr>
        <p:spPr>
          <a:xfrm>
            <a:off x="3081528" y="5001768"/>
            <a:ext cx="155448" cy="246888"/>
          </a:xfrm>
          <a:prstGeom prst="chevron">
            <a:avLst/>
          </a:prstGeom>
          <a:solidFill>
            <a:srgbClr val="F17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82696" y="4892040"/>
            <a:ext cx="1143000" cy="475488"/>
          </a:xfrm>
          <a:prstGeom prst="roundRect">
            <a:avLst/>
          </a:prstGeom>
          <a:solidFill>
            <a:srgbClr val="F9F4FC"/>
          </a:solidFill>
          <a:ln w="17780">
            <a:solidFill>
              <a:srgbClr val="8B3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10127" y="4910327"/>
            <a:ext cx="1088136" cy="43891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8B35AA"/>
                </a:solidFill>
                <a:latin typeface="Aptos"/>
              </a:rPr>
              <a:t>Generated latent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B35AA"/>
                </a:solidFill>
                <a:latin typeface="Aptos"/>
              </a:rPr>
              <a:t>32×4×4</a:t>
            </a:r>
          </a:p>
        </p:txBody>
      </p:sp>
      <p:sp>
        <p:nvSpPr>
          <p:cNvPr id="44" name="Chevron 43"/>
          <p:cNvSpPr/>
          <p:nvPr/>
        </p:nvSpPr>
        <p:spPr>
          <a:xfrm>
            <a:off x="4471416" y="5001768"/>
            <a:ext cx="155448" cy="246888"/>
          </a:xfrm>
          <a:prstGeom prst="chevron">
            <a:avLst/>
          </a:prstGeom>
          <a:solidFill>
            <a:srgbClr val="1C3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72584" y="4892040"/>
            <a:ext cx="960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3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0016" y="4910327"/>
            <a:ext cx="905256" cy="43891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B3352"/>
                </a:solidFill>
                <a:latin typeface="Aptos"/>
              </a:rPr>
              <a:t>Same CNN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B3352"/>
                </a:solidFill>
                <a:latin typeface="Aptos"/>
              </a:rPr>
              <a:t>decoder</a:t>
            </a:r>
          </a:p>
        </p:txBody>
      </p:sp>
      <p:sp>
        <p:nvSpPr>
          <p:cNvPr id="47" name="Chevron 46"/>
          <p:cNvSpPr/>
          <p:nvPr/>
        </p:nvSpPr>
        <p:spPr>
          <a:xfrm>
            <a:off x="5678424" y="5001768"/>
            <a:ext cx="155448" cy="246888"/>
          </a:xfrm>
          <a:prstGeom prst="chevron">
            <a:avLst/>
          </a:prstGeom>
          <a:solidFill>
            <a:srgbClr val="0B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879592" y="4892040"/>
            <a:ext cx="484632" cy="475488"/>
          </a:xfrm>
          <a:prstGeom prst="roundRect">
            <a:avLst/>
          </a:prstGeom>
          <a:solidFill>
            <a:srgbClr val="F1FAF6"/>
          </a:solidFill>
          <a:ln w="17780">
            <a:solidFill>
              <a:srgbClr val="0B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07024" y="4910327"/>
            <a:ext cx="429768" cy="43891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0B8F55"/>
                </a:solidFill>
                <a:latin typeface="Aptos"/>
              </a:rPr>
              <a:t>Image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1124712"/>
            <a:ext cx="5074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C3C67"/>
                </a:solidFill>
                <a:latin typeface="Aptos"/>
              </a:rPr>
              <a:t>Key equations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20840" y="1444752"/>
            <a:ext cx="5074920" cy="795528"/>
          </a:xfrm>
          <a:prstGeom prst="roundRect">
            <a:avLst/>
          </a:prstGeom>
          <a:solidFill>
            <a:srgbClr val="F9F4FC"/>
          </a:solidFill>
          <a:ln w="17780">
            <a:solidFill>
              <a:srgbClr val="8B3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85431" y="1490472"/>
            <a:ext cx="474573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50" b="1">
                <a:solidFill>
                  <a:srgbClr val="1C3C67"/>
                </a:solidFill>
                <a:latin typeface="Aptos"/>
              </a:rPr>
              <a:t>Unit-norm token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6920" y="1755648"/>
            <a:ext cx="1502758" cy="512064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720840" y="2350008"/>
            <a:ext cx="5074920" cy="1097280"/>
          </a:xfrm>
          <a:prstGeom prst="roundRect">
            <a:avLst/>
          </a:prstGeom>
          <a:solidFill>
            <a:srgbClr val="EEF9FB"/>
          </a:solidFill>
          <a:ln w="17780">
            <a:solidFill>
              <a:srgbClr val="008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85431" y="2395727"/>
            <a:ext cx="474573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50" b="1">
                <a:solidFill>
                  <a:srgbClr val="1C3C67"/>
                </a:solidFill>
                <a:latin typeface="Aptos"/>
              </a:rPr>
              <a:t>Geodesic training path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6855" y="2660903"/>
            <a:ext cx="2882889" cy="566928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6720840" y="3575304"/>
            <a:ext cx="5074920" cy="859536"/>
          </a:xfrm>
          <a:prstGeom prst="roundRect">
            <a:avLst/>
          </a:prstGeom>
          <a:solidFill>
            <a:srgbClr val="F1FAF6"/>
          </a:solidFill>
          <a:ln w="17780">
            <a:solidFill>
              <a:srgbClr val="0B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85431" y="3621024"/>
            <a:ext cx="474573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50" b="1">
                <a:solidFill>
                  <a:srgbClr val="1C3C67"/>
                </a:solidFill>
                <a:latin typeface="Aptos"/>
              </a:rPr>
              <a:t>Velocity matching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3641" y="3886200"/>
            <a:ext cx="4309317" cy="493776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6720840" y="4544568"/>
            <a:ext cx="5074920" cy="905256"/>
          </a:xfrm>
          <a:prstGeom prst="roundRect">
            <a:avLst/>
          </a:prstGeom>
          <a:solidFill>
            <a:srgbClr val="FFF8F1"/>
          </a:solidFill>
          <a:ln w="17780">
            <a:solidFill>
              <a:srgbClr val="F177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85431" y="4590288"/>
            <a:ext cx="474573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50" b="1">
                <a:solidFill>
                  <a:srgbClr val="1C3C67"/>
                </a:solidFill>
                <a:latin typeface="Aptos"/>
              </a:rPr>
              <a:t>Manifold-preserving sampling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95159" y="4870878"/>
            <a:ext cx="4526280" cy="472091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2817" y="3081528"/>
            <a:ext cx="1410965" cy="29260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720840" y="5532120"/>
            <a:ext cx="5074920" cy="384048"/>
          </a:xfrm>
          <a:prstGeom prst="roundRect">
            <a:avLst/>
          </a:prstGeom>
          <a:solidFill>
            <a:srgbClr val="F1F7FB"/>
          </a:solidFill>
          <a:ln w="12700">
            <a:solidFill>
              <a:srgbClr val="BE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30568" y="5541264"/>
            <a:ext cx="4855464" cy="3566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40" b="1">
                <a:solidFill>
                  <a:srgbClr val="1C3C67"/>
                </a:solidFill>
                <a:latin typeface="Aptos"/>
              </a:rPr>
              <a:t>The encoder support, training path, and sampling update use the same geometry.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6473952"/>
            <a:ext cx="91440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70849A"/>
                </a:solidFill>
                <a:latin typeface="Aptos"/>
              </a:rPr>
              <a:t>ECE 1508 Deep Generative Models  |  Group 3  |  Mohammadreza Tavasoli Naeini &amp; Raman Mangla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45952" y="647395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50" b="0">
                <a:solidFill>
                  <a:srgbClr val="70849A"/>
                </a:solidFill>
                <a:latin typeface="Aptos"/>
              </a:rPr>
              <a:t>2/5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072" y="6336792"/>
            <a:ext cx="11155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60">
                <a:solidFill>
                  <a:srgbClr val="697480"/>
                </a:solidFill>
                <a:latin typeface="Aptos"/>
              </a:rPr>
              <a:t>Method refs: Sphere Encoder (Yue et al., 2026); Flow Matching (Lipman et al., 2023); Riemannian/RJF flow motivation (Kumar &amp; Patel,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l"/>
            <a:r>
              <a:rPr sz="2700" b="1">
                <a:solidFill>
                  <a:srgbClr val="18375B"/>
                </a:solidFill>
                <a:latin typeface="Aptos"/>
              </a:rPr>
              <a:t>Why the autoencoder and prior must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/>
            <a:r>
              <a:rPr sz="1550">
                <a:solidFill>
                  <a:srgbClr val="4E5B67"/>
                </a:solidFill>
                <a:latin typeface="Aptos"/>
              </a:rPr>
              <a:t>Two controlled tests separate path mismatch from support mismatch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7D8C9A"/>
                </a:solidFill>
                <a:latin typeface="Aptos"/>
              </a:rPr>
              <a:t>ECE 1508 Deep Generative Models  |  Group 3  |  Mohammadreza Tavasoli Naeini &amp; Raman Mangla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3/5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024128"/>
            <a:ext cx="5897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1. Path match: same spherical autoencoder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23560" y="1371600"/>
          <a:ext cx="52120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868680"/>
                <a:gridCol w="731520"/>
                <a:gridCol w="777240"/>
                <a:gridCol w="914400"/>
              </a:tblGrid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FID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KID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Prec.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Min norm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</a:tr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Chord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67.44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0.0740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0.840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0.085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0.705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SRUL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63.84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0.0667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0.857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0.091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1.000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23560" y="2761488"/>
            <a:ext cx="5897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500" b="1">
                <a:solidFill>
                  <a:srgbClr val="18375B"/>
                </a:solidFill>
                <a:latin typeface="Aptos Display"/>
              </a:rPr>
              <a:t>2. Support match: SRUL vs. the same VAE with two priors (CFG =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485000"/>
            <a:ext cx="56692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180">
                <a:solidFill>
                  <a:srgbClr val="262626"/>
                </a:solidFill>
                <a:latin typeface="Aptos"/>
              </a:rPr>
              <a:t>Same VAE: radius CV = 0.291; mean-radius replacement changes reconstruction FID 16.90 → 22.46.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02352"/>
            <a:ext cx="10881360" cy="713232"/>
          </a:xfrm>
          <a:prstGeom prst="roundRect">
            <a:avLst/>
          </a:prstGeom>
          <a:solidFill>
            <a:srgbClr val="E5F2F6"/>
          </a:solidFill>
          <a:ln w="15240">
            <a:solidFill>
              <a:srgbClr val="0B8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75504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330">
                <a:solidFill>
                  <a:srgbClr val="142837"/>
                </a:solidFill>
                <a:latin typeface="Aptos"/>
              </a:rPr>
              <a:t>SRUL learns spherical support before RFM. Projecting a VAE after training removes radius information.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23560" y="3070000"/>
          <a:ext cx="4919472" cy="132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758952"/>
                <a:gridCol w="822960"/>
                <a:gridCol w="822960"/>
              </a:tblGrid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FID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Prec.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42837"/>
                          </a:solidFill>
                          <a:latin typeface="Aptos"/>
                        </a:rPr>
                        <a:t>SRUL: spherical AE + RFM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49.42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0.857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0.110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42837"/>
                          </a:solidFill>
                          <a:latin typeface="Aptos"/>
                        </a:rPr>
                        <a:t>VAE + standard FM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50.70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0.855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0.091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42837"/>
                          </a:solidFill>
                          <a:latin typeface="Aptos"/>
                        </a:rPr>
                        <a:t>VAE + projected RFM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56.04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0.848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0.063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15" descr="orig_slide3_gamma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43000"/>
            <a:ext cx="4983480" cy="3794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6072" y="6336792"/>
            <a:ext cx="11155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60">
                <a:solidFill>
                  <a:srgbClr val="697480"/>
                </a:solidFill>
                <a:latin typeface="Aptos"/>
              </a:rPr>
              <a:t>Baselines and metrics build on VAE/LDM latent modeling (Kingma &amp; Welling, 2014; Rombach et al., 2022) and Flow Matching (Lipman et al., 2023).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Information control and conditional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r>
              <a:rPr sz="1750"/>
              <a:t>Two separate controlled studies on CIFAR-10: left fixes CFG s = 2; right fixes σₑₙc = 0.15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7D8C9A"/>
                </a:solidFill>
                <a:latin typeface="Aptos"/>
              </a:rPr>
              <a:t>ECE 1508 Deep Generative Models  |  Group 3  |  Mohammadreza Tavasoli Naeini &amp; Raman Mangla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4/5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33271"/>
            <a:ext cx="5532120" cy="713232"/>
          </a:xfrm>
          <a:prstGeom prst="roundRect">
            <a:avLst/>
          </a:prstGeom>
          <a:solidFill>
            <a:srgbClr val="FDF6E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5257800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40" b="1">
                <a:solidFill>
                  <a:srgbClr val="17395C"/>
                </a:solidFill>
                <a:latin typeface="Aptos"/>
              </a:rPr>
              <a:t>Tangent-noise information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033271"/>
            <a:ext cx="5532120" cy="713232"/>
          </a:xfrm>
          <a:prstGeom prst="roundRect">
            <a:avLst/>
          </a:prstGeom>
          <a:solidFill>
            <a:srgbClr val="EEF9FA"/>
          </a:solidFill>
          <a:ln w="15240">
            <a:solidFill>
              <a:srgbClr val="00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078992"/>
            <a:ext cx="5257800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7395C"/>
                </a:solidFill>
                <a:latin typeface="Aptos"/>
              </a:rPr>
              <a:t>Classifier-free guidance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47088"/>
            <a:ext cx="5532120" cy="2953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ois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956816"/>
            <a:ext cx="5257800" cy="272491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53912" y="1847088"/>
            <a:ext cx="5532120" cy="2953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fg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956816"/>
            <a:ext cx="5257800" cy="2724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13232" y="5001768"/>
            <a:ext cx="5120640" cy="612648"/>
          </a:xfrm>
          <a:prstGeom prst="roundRect">
            <a:avLst/>
          </a:prstGeom>
          <a:solidFill>
            <a:srgbClr val="FDF6EF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001768"/>
            <a:ext cx="475488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1570"/>
              <a:t>At fixed s = 2, σₑₙc = 0.30 degrades all datasets; PathMNIST is slightly best at 0.15.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5001768"/>
            <a:ext cx="5120640" cy="612648"/>
          </a:xfrm>
          <a:prstGeom prst="roundRect">
            <a:avLst/>
          </a:prstGeom>
          <a:solidFill>
            <a:srgbClr val="EEF9FA"/>
          </a:solidFill>
          <a:ln w="13970">
            <a:solidFill>
              <a:srgbClr val="00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5047488"/>
            <a:ext cx="47548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normAutofit/>
          </a:bodyPr>
          <a:lstStyle/>
          <a:p>
            <a:r>
              <a:rPr sz="1500"/>
              <a:t>At fixed σₑₙc = 0.15, CIFAR-10 benefits from stronger guidance; PathMNIST peaks at s = 1.5 and CelebA changes little.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2263" y="1344168"/>
            <a:ext cx="2279072" cy="32004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2782" y="1344168"/>
            <a:ext cx="2327994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6072" y="6336792"/>
            <a:ext cx="11155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60">
                <a:solidFill>
                  <a:srgbClr val="697480"/>
                </a:solidFill>
                <a:latin typeface="Aptos"/>
              </a:rPr>
              <a:t>Ablation refs: Unified Latents information-control view (Heek et al., 2026); Classifier-Free Guidance (Ho &amp; Salimans, 2022).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2700" b="1">
                <a:solidFill>
                  <a:srgbClr val="18375B"/>
                </a:solidFill>
                <a:latin typeface="Aptos"/>
              </a:rPr>
              <a:t>SRUL in three image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r>
              <a:rPr sz="1800"/>
              <a:t>Same reference setting in every row: σₑₙc = 0.15 and CFG s =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7D8C9A"/>
                </a:solidFill>
                <a:latin typeface="Aptos"/>
              </a:rPr>
              <a:t>ECE 1508 Deep Generative Models  |  Group 3  |  Mohammadreza Tavasoli Naeini &amp; Raman Mangla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5/5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fa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07592"/>
            <a:ext cx="2971800" cy="969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8375B"/>
                </a:solidFill>
                <a:latin typeface="Aptos"/>
              </a:rPr>
              <a:t>CIFAR-10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t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307592"/>
            <a:ext cx="2971800" cy="969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3128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C6475"/>
                </a:solidFill>
                <a:latin typeface="Aptos"/>
              </a:rPr>
              <a:t>PathMNIST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eleb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1307592"/>
            <a:ext cx="2971800" cy="969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9872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E07737"/>
                </a:solidFill>
                <a:latin typeface="Aptos"/>
              </a:rPr>
              <a:t>CelebA-64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7792"/>
            <a:ext cx="12344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2808" y="2907792"/>
            <a:ext cx="242316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Evaluation setting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907792"/>
            <a:ext cx="7772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926080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Recon. FID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Gen. FID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Prec.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438144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56432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CIFAR-10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92808" y="3438144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3456432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Geometry + sampling ablations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3438144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456432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40"/>
              <a:t>17.31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048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40"/>
              <a:t>49.39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877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40"/>
              <a:t>0.884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021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40"/>
              <a:t>0.059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3968496"/>
            <a:ext cx="12344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986783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PathMNIST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92808" y="3968496"/>
            <a:ext cx="242316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3986783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Histopathology transfer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15968" y="3968496"/>
            <a:ext cx="7772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986783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320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240"/>
              <a:t>7.13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048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240"/>
              <a:t>29.36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877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240"/>
              <a:t>0.829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021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240"/>
              <a:t>0.309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498848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517136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CelebA-64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92808" y="4498848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20240" y="4517136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64 × 64 face generation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15968" y="4498848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3400" y="4517136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8 × 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9320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240"/>
              <a:t>9.08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048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240"/>
              <a:t>41.22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877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240"/>
              <a:t>0.657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021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normAutofit/>
          </a:bodyPr>
          <a:lstStyle/>
          <a:p>
            <a:pPr algn="ctr"/>
            <a:r>
              <a:rPr sz="1240"/>
              <a:t>0.198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4672" y="5330952"/>
            <a:ext cx="1062532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4128" y="5431536"/>
            <a:ext cx="1018641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r>
              <a:rPr sz="1700"/>
              <a:t>The same pipeline transfers to natural objects, histopathology, and 64 x 64 faces; the controlled sweeps are reported separately.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" y="6336792"/>
            <a:ext cx="11155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60">
                <a:solidFill>
                  <a:srgbClr val="697480"/>
                </a:solidFill>
                <a:latin typeface="Aptos"/>
              </a:rPr>
              <a:t>Dataset refs: CIFAR-10 (Krizhevsky, 2009); MedMNIST v2 / PathMNIST (Yang et al., 2023); CelebA (Liu et al., 2015).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Spatial Unit-Norm Latents with Riemannian Flow Matching</dc:title>
  <dc:subject>SRUL - Spherical Riemannian Unit-Norm Latents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