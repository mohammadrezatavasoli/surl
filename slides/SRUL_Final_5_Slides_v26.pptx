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2550">
                <a:latin typeface="Aptos Display"/>
              </a:rPr>
              <a:t>Learning Spatial Unit-Norm Latents with Riemannian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800">
                <a:latin typeface="Aptos"/>
              </a:rPr>
              <a:t>SRUL: Spherical Riemannian Unit-Norm Latents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700">
                <a:latin typeface="Aptos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4407408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40416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222930"/>
                </a:solidFill>
                <a:latin typeface="Aptos"/>
              </a:rPr>
              <a:t>An autoencoder does not have to produce Gaussian latents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95728"/>
            <a:ext cx="440740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4041648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500">
                <a:latin typeface="Aptos"/>
              </a:rPr>
              <a:t>Normalization can make token norms nearly constant</a:t>
            </a:r>
          </a:p>
          <a:p>
            <a:r>
              <a:rPr sz="1500">
                <a:latin typeface="Aptos"/>
              </a:rPr>
              <a:t>(e.g., Transformer + LayerNorm)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64408"/>
            <a:ext cx="4407408" cy="713232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E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4041648" cy="521207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00">
                <a:latin typeface="Aptos"/>
              </a:rPr>
              <a:t>The prior can mismatch the latent support</a:t>
            </a:r>
          </a:p>
          <a:p>
            <a:r>
              <a:rPr sz="1500">
                <a:latin typeface="Aptos"/>
              </a:rPr>
              <a:t>or leave it along the transport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15384"/>
            <a:ext cx="4526280" cy="914400"/>
          </a:xfrm>
          <a:prstGeom prst="roundRect">
            <a:avLst/>
          </a:prstGeom>
          <a:solidFill>
            <a:srgbClr val="EBF7F8"/>
          </a:solidFill>
          <a:ln w="1778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97680"/>
            <a:ext cx="40416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latin typeface="Aptos"/>
              </a:rPr>
              <a:t>Main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63440"/>
            <a:ext cx="4041648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/>
            <a:r>
              <a:rPr sz="1090" b="0">
                <a:latin typeface="Aptos"/>
              </a:rPr>
              <a:t>SRUL learns spherical spatial tokens and uses tangent noise</a:t>
            </a:r>
          </a:p>
          <a:p>
            <a:r>
              <a:rPr sz="1090" b="0">
                <a:latin typeface="Aptos"/>
              </a:rPr>
              <a:t>for information control. RFM models the same latent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367528"/>
            <a:ext cx="408736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449824"/>
            <a:ext cx="38039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8375B"/>
                </a:solidFill>
                <a:latin typeface="Aptos"/>
              </a:rPr>
              <a:t>CIFAR-10  •  PathMNIST  •  CelebA-64</a:t>
            </a:r>
          </a:p>
        </p:txBody>
      </p:sp>
      <p:pic>
        <p:nvPicPr>
          <p:cNvPr id="19" name="Picture 18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33856"/>
            <a:ext cx="619963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E5B67"/>
                </a:solidFill>
                <a:latin typeface="Aptos"/>
              </a:rPr>
              <a:t>Learn spherical latents, control retained information, then sample on the same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2/5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5715000" cy="1261872"/>
          </a:xfrm>
          <a:prstGeom prst="roundRect">
            <a:avLst/>
          </a:prstGeom>
          <a:solidFill>
            <a:srgbClr val="F2F7FB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52578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7395C"/>
                </a:solidFill>
                <a:latin typeface="Aptos"/>
              </a:rPr>
              <a:t>1  Learn the spherical representation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7315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91056"/>
            <a:ext cx="676656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7395C"/>
                </a:solidFill>
                <a:latin typeface="Aptos"/>
              </a:rPr>
              <a:t>Image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1426464" y="1691640"/>
            <a:ext cx="182880" cy="182880"/>
          </a:xfrm>
          <a:prstGeom prst="chevron">
            <a:avLst/>
          </a:prstGeom>
          <a:solidFill>
            <a:srgbClr val="17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4208" y="1572768"/>
            <a:ext cx="91440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591056"/>
            <a:ext cx="859536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7395C"/>
                </a:solidFill>
                <a:latin typeface="Aptos"/>
              </a:rPr>
              <a:t>Encoder</a:t>
            </a:r>
          </a:p>
        </p:txBody>
      </p:sp>
      <p:sp>
        <p:nvSpPr>
          <p:cNvPr id="14" name="Chevron 13"/>
          <p:cNvSpPr/>
          <p:nvPr/>
        </p:nvSpPr>
        <p:spPr>
          <a:xfrm>
            <a:off x="2642616" y="1691640"/>
            <a:ext cx="182880" cy="182880"/>
          </a:xfrm>
          <a:prstGeom prst="chevron">
            <a:avLst/>
          </a:prstGeom>
          <a:solidFill>
            <a:srgbClr val="17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1481328"/>
            <a:ext cx="1627632" cy="621792"/>
          </a:xfrm>
          <a:prstGeom prst="roundRect">
            <a:avLst/>
          </a:prstGeom>
          <a:solidFill>
            <a:srgbClr val="F9F3FC"/>
          </a:solidFill>
          <a:ln w="15240">
            <a:solidFill>
              <a:srgbClr val="7B3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1" y="1499616"/>
            <a:ext cx="1572768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7B3294"/>
                </a:solidFill>
                <a:latin typeface="Aptos"/>
              </a:rPr>
              <a:t>Unit-norm
spatial tokens</a:t>
            </a:r>
          </a:p>
        </p:txBody>
      </p:sp>
      <p:sp>
        <p:nvSpPr>
          <p:cNvPr id="17" name="Chevron 16"/>
          <p:cNvSpPr/>
          <p:nvPr/>
        </p:nvSpPr>
        <p:spPr>
          <a:xfrm>
            <a:off x="4581144" y="1691640"/>
            <a:ext cx="182880" cy="182880"/>
          </a:xfrm>
          <a:prstGeom prst="chevron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1572768"/>
            <a:ext cx="98755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1591056"/>
            <a:ext cx="932688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7395C"/>
                </a:solidFill>
                <a:latin typeface="Aptos"/>
              </a:rPr>
              <a:t>Decoder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487168"/>
            <a:ext cx="5715000" cy="1481328"/>
          </a:xfrm>
          <a:prstGeom prst="roundRect">
            <a:avLst/>
          </a:prstGeom>
          <a:solidFill>
            <a:srgbClr val="EEF9FA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51176"/>
            <a:ext cx="52578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708A"/>
                </a:solidFill>
                <a:latin typeface="Aptos"/>
              </a:rPr>
              <a:t>2  Train the Riemannian Flow Matching prior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44368"/>
            <a:ext cx="841248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962656"/>
            <a:ext cx="786384" cy="5577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708A"/>
                </a:solidFill>
                <a:latin typeface="Aptos"/>
              </a:rPr>
              <a:t>Spherical
noise</a:t>
            </a:r>
          </a:p>
        </p:txBody>
      </p:sp>
      <p:sp>
        <p:nvSpPr>
          <p:cNvPr id="24" name="Chevron 23"/>
          <p:cNvSpPr/>
          <p:nvPr/>
        </p:nvSpPr>
        <p:spPr>
          <a:xfrm>
            <a:off x="1536192" y="3136392"/>
            <a:ext cx="164592" cy="164592"/>
          </a:xfrm>
          <a:prstGeom prst="chevron">
            <a:avLst/>
          </a:prstGeom>
          <a:solidFill>
            <a:srgbClr val="00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55648" y="2944368"/>
            <a:ext cx="932688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2962656"/>
            <a:ext cx="877824" cy="5577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708A"/>
                </a:solidFill>
                <a:latin typeface="Aptos"/>
              </a:rPr>
              <a:t>SLERP state
zₜ</a:t>
            </a:r>
          </a:p>
        </p:txBody>
      </p:sp>
      <p:sp>
        <p:nvSpPr>
          <p:cNvPr id="27" name="Chevron 26"/>
          <p:cNvSpPr/>
          <p:nvPr/>
        </p:nvSpPr>
        <p:spPr>
          <a:xfrm>
            <a:off x="2743200" y="3136392"/>
            <a:ext cx="164592" cy="164592"/>
          </a:xfrm>
          <a:prstGeom prst="chevron">
            <a:avLst/>
          </a:prstGeom>
          <a:solidFill>
            <a:srgbClr val="00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62656" y="2944368"/>
            <a:ext cx="104241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0088" y="2962656"/>
            <a:ext cx="987551" cy="5577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708A"/>
                </a:solidFill>
                <a:latin typeface="Aptos"/>
              </a:rPr>
              <a:t>RFM field
vθ(zₜ,t)</a:t>
            </a:r>
          </a:p>
        </p:txBody>
      </p:sp>
      <p:sp>
        <p:nvSpPr>
          <p:cNvPr id="30" name="Chevron 29"/>
          <p:cNvSpPr/>
          <p:nvPr/>
        </p:nvSpPr>
        <p:spPr>
          <a:xfrm>
            <a:off x="4059936" y="3136392"/>
            <a:ext cx="164592" cy="164592"/>
          </a:xfrm>
          <a:prstGeom prst="chevron">
            <a:avLst/>
          </a:prstGeom>
          <a:solidFill>
            <a:srgbClr val="7B3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79392" y="2944368"/>
            <a:ext cx="941832" cy="594360"/>
          </a:xfrm>
          <a:prstGeom prst="roundRect">
            <a:avLst/>
          </a:prstGeom>
          <a:solidFill>
            <a:srgbClr val="F9F3FC"/>
          </a:solidFill>
          <a:ln w="15240">
            <a:solidFill>
              <a:srgbClr val="7B3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2962656"/>
            <a:ext cx="886968" cy="5577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7B3294"/>
                </a:solidFill>
                <a:latin typeface="Aptos"/>
              </a:rPr>
              <a:t>Tangent
velocity</a:t>
            </a:r>
          </a:p>
        </p:txBody>
      </p:sp>
      <p:sp>
        <p:nvSpPr>
          <p:cNvPr id="33" name="Chevron 32"/>
          <p:cNvSpPr/>
          <p:nvPr/>
        </p:nvSpPr>
        <p:spPr>
          <a:xfrm>
            <a:off x="5276088" y="3136392"/>
            <a:ext cx="164592" cy="164592"/>
          </a:xfrm>
          <a:prstGeom prst="chevron">
            <a:avLst/>
          </a:prstGeom>
          <a:solidFill>
            <a:srgbClr val="1D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95544" y="2944368"/>
            <a:ext cx="539496" cy="594360"/>
          </a:xfrm>
          <a:prstGeom prst="roundRect">
            <a:avLst/>
          </a:prstGeom>
          <a:solidFill>
            <a:srgbClr val="EEF9FA"/>
          </a:solidFill>
          <a:ln w="15240">
            <a:solidFill>
              <a:srgbClr val="1D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2976" y="2962656"/>
            <a:ext cx="484632" cy="5577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1D8A5B"/>
                </a:solidFill>
                <a:latin typeface="Aptos"/>
              </a:rPr>
              <a:t>Target
uₜ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114800"/>
            <a:ext cx="5715000" cy="1188720"/>
          </a:xfrm>
          <a:prstGeom prst="roundRect">
            <a:avLst/>
          </a:prstGeom>
          <a:solidFill>
            <a:srgbClr val="FDF6EF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178808"/>
            <a:ext cx="52578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Aptos"/>
              </a:rPr>
              <a:t>3  Sample new latents and decode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590288"/>
            <a:ext cx="658368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608575"/>
            <a:ext cx="603503" cy="3749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7395C"/>
                </a:solidFill>
                <a:latin typeface="Aptos"/>
              </a:rPr>
              <a:t>Noise</a:t>
            </a:r>
          </a:p>
        </p:txBody>
      </p:sp>
      <p:sp>
        <p:nvSpPr>
          <p:cNvPr id="40" name="Chevron 39"/>
          <p:cNvSpPr/>
          <p:nvPr/>
        </p:nvSpPr>
        <p:spPr>
          <a:xfrm>
            <a:off x="1371600" y="4700016"/>
            <a:ext cx="164592" cy="164592"/>
          </a:xfrm>
          <a:prstGeom prst="chevron">
            <a:avLst/>
          </a:prstGeom>
          <a:solidFill>
            <a:srgbClr val="00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591056" y="4507992"/>
            <a:ext cx="1481328" cy="576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18488" y="4526279"/>
            <a:ext cx="1426464" cy="5394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Aptos"/>
              </a:rPr>
              <a:t>Projected velocity
+ Exp-map steps</a:t>
            </a:r>
          </a:p>
        </p:txBody>
      </p:sp>
      <p:sp>
        <p:nvSpPr>
          <p:cNvPr id="43" name="Chevron 42"/>
          <p:cNvSpPr/>
          <p:nvPr/>
        </p:nvSpPr>
        <p:spPr>
          <a:xfrm>
            <a:off x="3127248" y="4700016"/>
            <a:ext cx="164592" cy="164592"/>
          </a:xfrm>
          <a:prstGeom prst="chevron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346704" y="4590288"/>
            <a:ext cx="786384" cy="411480"/>
          </a:xfrm>
          <a:prstGeom prst="roundRect">
            <a:avLst/>
          </a:prstGeom>
          <a:solidFill>
            <a:srgbClr val="F9F3FC"/>
          </a:solidFill>
          <a:ln w="15240">
            <a:solidFill>
              <a:srgbClr val="7B3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4608575"/>
            <a:ext cx="731520" cy="3749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7B3294"/>
                </a:solidFill>
                <a:latin typeface="Aptos"/>
              </a:rPr>
              <a:t>Latent</a:t>
            </a:r>
          </a:p>
        </p:txBody>
      </p:sp>
      <p:sp>
        <p:nvSpPr>
          <p:cNvPr id="46" name="Chevron 45"/>
          <p:cNvSpPr/>
          <p:nvPr/>
        </p:nvSpPr>
        <p:spPr>
          <a:xfrm>
            <a:off x="4187952" y="4700016"/>
            <a:ext cx="164592" cy="164592"/>
          </a:xfrm>
          <a:prstGeom prst="chevron">
            <a:avLst/>
          </a:prstGeom>
          <a:solidFill>
            <a:srgbClr val="17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07408" y="4590288"/>
            <a:ext cx="82296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608575"/>
            <a:ext cx="768096" cy="3749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395C"/>
                </a:solidFill>
                <a:latin typeface="Aptos"/>
              </a:rPr>
              <a:t>Decoder</a:t>
            </a:r>
          </a:p>
        </p:txBody>
      </p:sp>
      <p:sp>
        <p:nvSpPr>
          <p:cNvPr id="49" name="Chevron 48"/>
          <p:cNvSpPr/>
          <p:nvPr/>
        </p:nvSpPr>
        <p:spPr>
          <a:xfrm>
            <a:off x="5285232" y="4700016"/>
            <a:ext cx="164592" cy="164592"/>
          </a:xfrm>
          <a:prstGeom prst="chevron">
            <a:avLst/>
          </a:prstGeom>
          <a:solidFill>
            <a:srgbClr val="1D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04688" y="4590288"/>
            <a:ext cx="530352" cy="411480"/>
          </a:xfrm>
          <a:prstGeom prst="roundRect">
            <a:avLst/>
          </a:prstGeom>
          <a:solidFill>
            <a:srgbClr val="EEF9FA"/>
          </a:solidFill>
          <a:ln w="15240">
            <a:solidFill>
              <a:srgbClr val="1D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4608575"/>
            <a:ext cx="475488" cy="3749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17395C"/>
                </a:solidFill>
                <a:latin typeface="Aptos"/>
              </a:rPr>
              <a:t>Image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1078992"/>
            <a:ext cx="5349240" cy="969264"/>
          </a:xfrm>
          <a:prstGeom prst="roundRect">
            <a:avLst/>
          </a:prstGeom>
          <a:solidFill>
            <a:srgbClr val="F9F3FC"/>
          </a:solidFill>
          <a:ln w="15240">
            <a:solidFill>
              <a:srgbClr val="7B3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1124712"/>
            <a:ext cx="507492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7395C"/>
                </a:solidFill>
                <a:latin typeface="Aptos"/>
              </a:rPr>
              <a:t>Unit-norm token</a:t>
            </a:r>
          </a:p>
        </p:txBody>
      </p:sp>
      <p:pic>
        <p:nvPicPr>
          <p:cNvPr id="54" name="Picture 53" descr="token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371600"/>
            <a:ext cx="5129783" cy="61264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400800" y="2194560"/>
            <a:ext cx="5349240" cy="1097280"/>
          </a:xfrm>
          <a:prstGeom prst="roundRect">
            <a:avLst/>
          </a:prstGeom>
          <a:solidFill>
            <a:srgbClr val="EEF9FA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2240279"/>
            <a:ext cx="507492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7395C"/>
                </a:solidFill>
                <a:latin typeface="Aptos"/>
              </a:rPr>
              <a:t>Geodesic path</a:t>
            </a:r>
          </a:p>
        </p:txBody>
      </p:sp>
      <p:pic>
        <p:nvPicPr>
          <p:cNvPr id="57" name="Picture 56" descr="sle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487168"/>
            <a:ext cx="5129783" cy="740664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400800" y="3419856"/>
            <a:ext cx="5349240" cy="932688"/>
          </a:xfrm>
          <a:prstGeom prst="roundRect">
            <a:avLst/>
          </a:prstGeom>
          <a:solidFill>
            <a:srgbClr val="EEF9FA"/>
          </a:solidFill>
          <a:ln w="15240">
            <a:solidFill>
              <a:srgbClr val="1D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465576"/>
            <a:ext cx="507492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7395C"/>
                </a:solidFill>
                <a:latin typeface="Aptos"/>
              </a:rPr>
              <a:t>Velocity matching</a:t>
            </a:r>
          </a:p>
        </p:txBody>
      </p:sp>
      <p:pic>
        <p:nvPicPr>
          <p:cNvPr id="60" name="Picture 59" descr="rfm_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712464"/>
            <a:ext cx="5129783" cy="57607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400800" y="4480560"/>
            <a:ext cx="5349240" cy="1024128"/>
          </a:xfrm>
          <a:prstGeom prst="roundRect">
            <a:avLst/>
          </a:prstGeom>
          <a:solidFill>
            <a:srgbClr val="FDF6E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37960" y="4526280"/>
            <a:ext cx="507492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7395C"/>
                </a:solidFill>
                <a:latin typeface="Aptos"/>
              </a:rPr>
              <a:t>Manifold-preserving sampling</a:t>
            </a:r>
          </a:p>
        </p:txBody>
      </p:sp>
      <p:pic>
        <p:nvPicPr>
          <p:cNvPr id="63" name="Picture 62" descr="exp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773168"/>
            <a:ext cx="5129783" cy="667512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400800" y="5596128"/>
            <a:ext cx="5349240" cy="384048"/>
          </a:xfrm>
          <a:prstGeom prst="roundRect">
            <a:avLst/>
          </a:prstGeom>
          <a:solidFill>
            <a:srgbClr val="F2F7FB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56248" y="5614416"/>
            <a:ext cx="5038344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7395C"/>
                </a:solidFill>
                <a:latin typeface="Aptos"/>
              </a:rPr>
              <a:t>The representation, training path, and numerical update use the same geometry.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l"/>
            <a:r>
              <a:rPr sz="2700" b="1">
                <a:solidFill>
                  <a:srgbClr val="18375B"/>
                </a:solidFill>
                <a:latin typeface="Aptos"/>
              </a:rPr>
              <a:t>Why the autoencoder and prior must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50">
                <a:solidFill>
                  <a:srgbClr val="4E5B67"/>
                </a:solidFill>
                <a:latin typeface="Aptos"/>
              </a:rPr>
              <a:t>Two controlled tests separate path mismatch from support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3/5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983480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1024128"/>
            <a:ext cx="5897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1. Path match: same spherical autoencoder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23560" y="1371600"/>
          <a:ext cx="5212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868680"/>
                <a:gridCol w="731520"/>
                <a:gridCol w="777240"/>
                <a:gridCol w="914400"/>
              </a:tblGrid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KID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Min norm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Chord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67.44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0.0740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0.840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0.085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0.705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SRUL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63.84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0.0667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23560" y="2761488"/>
            <a:ext cx="5897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18375B"/>
                </a:solidFill>
                <a:latin typeface="Aptos Display"/>
              </a:rPr>
              <a:t>2. Support match: SRUL vs. the same VAE with two priors (CFG =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485000"/>
            <a:ext cx="56692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180">
                <a:solidFill>
                  <a:srgbClr val="262626"/>
                </a:solidFill>
                <a:latin typeface="Aptos"/>
              </a:rPr>
              <a:t>Same VAE: radius CV = 0.291; mean-radius replacement changes reconstruction FID 16.90 → 22.46.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02352"/>
            <a:ext cx="10881360" cy="713232"/>
          </a:xfrm>
          <a:prstGeom prst="roundRect">
            <a:avLst/>
          </a:prstGeom>
          <a:solidFill>
            <a:srgbClr val="E5F2F6"/>
          </a:solidFill>
          <a:ln w="15240">
            <a:solidFill>
              <a:srgbClr val="0B8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75504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330">
                <a:solidFill>
                  <a:srgbClr val="142837"/>
                </a:solidFill>
                <a:latin typeface="Aptos"/>
              </a:rPr>
              <a:t>SRUL learns spherical support before RFM. Projecting a VAE after training removes radius information.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23560" y="3070000"/>
          <a:ext cx="4919472" cy="132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58952"/>
                <a:gridCol w="822960"/>
                <a:gridCol w="822960"/>
              </a:tblGrid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42837"/>
                          </a:solidFill>
                          <a:latin typeface="Aptos"/>
                        </a:rPr>
                        <a:t>SRUL: spherical AE + RFM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49.42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0.110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standard FM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50.70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projected RFM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56.04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0.848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0.063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Information control and conditional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>
                <a:solidFill>
                  <a:srgbClr val="4E5B67"/>
                </a:solidFill>
                <a:latin typeface="Aptos"/>
              </a:rPr>
              <a:t>σenc controls retained image information; CFG controls class emphasis during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4/5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33271"/>
            <a:ext cx="5532120" cy="713232"/>
          </a:xfrm>
          <a:prstGeom prst="roundRect">
            <a:avLst/>
          </a:prstGeom>
          <a:solidFill>
            <a:srgbClr val="FDF6E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525780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40" b="1">
                <a:solidFill>
                  <a:srgbClr val="17395C"/>
                </a:solidFill>
                <a:latin typeface="Aptos"/>
              </a:rPr>
              <a:t>Tangent-noise information control</a:t>
            </a:r>
          </a:p>
        </p:txBody>
      </p:sp>
      <p:pic>
        <p:nvPicPr>
          <p:cNvPr id="9" name="Picture 8" descr="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5312664" cy="3566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53912" y="1033271"/>
            <a:ext cx="5532120" cy="713232"/>
          </a:xfrm>
          <a:prstGeom prst="roundRect">
            <a:avLst/>
          </a:prstGeom>
          <a:solidFill>
            <a:srgbClr val="EEF9FA"/>
          </a:solidFill>
          <a:ln w="1524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078992"/>
            <a:ext cx="5257800" cy="2468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7395C"/>
                </a:solidFill>
                <a:latin typeface="Aptos"/>
              </a:rPr>
              <a:t>Classifier-free guidance</a:t>
            </a:r>
          </a:p>
        </p:txBody>
      </p:sp>
      <p:pic>
        <p:nvPicPr>
          <p:cNvPr id="12" name="Picture 11" descr="cf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5312664" cy="3566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1847088"/>
            <a:ext cx="5532120" cy="2953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is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56816"/>
            <a:ext cx="5257800" cy="27249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53912" y="1847088"/>
            <a:ext cx="5532120" cy="2953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fg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956816"/>
            <a:ext cx="5257800" cy="2724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13232" y="5001768"/>
            <a:ext cx="5120640" cy="612648"/>
          </a:xfrm>
          <a:prstGeom prst="roundRect">
            <a:avLst/>
          </a:prstGeom>
          <a:solidFill>
            <a:srgbClr val="FDF6E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01768"/>
            <a:ext cx="475488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20" b="1">
                <a:solidFill>
                  <a:srgbClr val="17395C"/>
                </a:solidFill>
                <a:latin typeface="Aptos"/>
              </a:rPr>
              <a:t>σenc = 0.05 gives the best tested balance; larger noise removes too much image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5001768"/>
            <a:ext cx="5120640" cy="612648"/>
          </a:xfrm>
          <a:prstGeom prst="roundRect">
            <a:avLst/>
          </a:prstGeom>
          <a:solidFill>
            <a:srgbClr val="EEF9FA"/>
          </a:solidFill>
          <a:ln w="13970">
            <a:solidFill>
              <a:srgbClr val="00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5047488"/>
            <a:ext cx="47548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7395C"/>
                </a:solidFill>
                <a:latin typeface="Aptos"/>
              </a:rPr>
              <a:t>Larger s improves FID and precision, but concentrates samples and lowers recall.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2700" b="1">
                <a:solidFill>
                  <a:srgbClr val="18375B"/>
                </a:solidFill>
                <a:latin typeface="Aptos"/>
              </a:rPr>
              <a:t>SRUL in three image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The same method is tested on different image structure and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fa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07592"/>
            <a:ext cx="297180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8375B"/>
                </a:solidFill>
                <a:latin typeface="Aptos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07592"/>
            <a:ext cx="2971800" cy="969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C6475"/>
                </a:solidFill>
                <a:latin typeface="Aptos"/>
              </a:rPr>
              <a:t>PathMNIST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eleb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307592"/>
            <a:ext cx="297180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E07737"/>
                </a:solidFill>
                <a:latin typeface="Aptos"/>
              </a:rPr>
              <a:t>CelebA-64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12344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2907792"/>
            <a:ext cx="242316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Evaluation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907792"/>
            <a:ext cx="7772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Recon. FID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Gen. FID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3814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56432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CIFAR-10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2808" y="3438144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456432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Geometry + sampling ablations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438144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56432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17.53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48.71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7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0.090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968496"/>
            <a:ext cx="12344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986783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PathMNIST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92808" y="3968496"/>
            <a:ext cx="242316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986783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Histopathology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3968496"/>
            <a:ext cx="7772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986783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7.13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29.36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0.309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4988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517136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CelebA-64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2808" y="4498848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0240" y="4517136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64 × 64 face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498848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4517136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8 ×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9320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9.08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41.22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877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0.657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0.198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" y="5330952"/>
            <a:ext cx="1062532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" y="5431536"/>
            <a:ext cx="101864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480">
                <a:latin typeface="Aptos"/>
              </a:rPr>
              <a:t>CIFAR-10 tests geometry and information control; PathMNIST tests texture transfer; CelebA-64 tests 64 × 64 faces.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Spatial Unit-Norm Latents with Riemannian Flow Matching</dc:title>
  <dc:subject>SRUL - Spherical Riemannian Unit-Norm Latents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